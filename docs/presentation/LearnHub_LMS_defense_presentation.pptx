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Type="http://schemas.openxmlformats.org/package/2006/relationships/metadata/core-properties" Target="/docProps/core.xml" Id="Rc1f59e80cb9d4e7d" /><Relationship Type="http://schemas.openxmlformats.org/officeDocument/2006/relationships/extended-properties" Target="/docProps/app.xml" Id="R78551d593c464070" /><Relationship Type="http://schemas.openxmlformats.org/officeDocument/2006/relationships/officeDocument" Target="/ppt/presentation.xml" Id="Rf220b84d2c2b4f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34507ce93d495f"/>
  </p:sldMasterIdLst>
  <p:notesMasterIdLst>
    <p:notesMasterId xmlns:r="http://schemas.openxmlformats.org/officeDocument/2006/relationships" r:id="R0775b3e293634303"/>
  </p:notesMasterIdLst>
  <p:sldIdLst>
    <p:sldId xmlns:r="http://schemas.openxmlformats.org/officeDocument/2006/relationships" id="256" r:id="Rbb9ed8342ee24407"/>
    <p:sldId xmlns:r="http://schemas.openxmlformats.org/officeDocument/2006/relationships" id="257" r:id="R30673aafb4f34d29"/>
    <p:sldId xmlns:r="http://schemas.openxmlformats.org/officeDocument/2006/relationships" id="258" r:id="R0fb208d7c6954931"/>
    <p:sldId xmlns:r="http://schemas.openxmlformats.org/officeDocument/2006/relationships" id="259" r:id="Rc07d2497cf4a458c"/>
    <p:sldId xmlns:r="http://schemas.openxmlformats.org/officeDocument/2006/relationships" id="260" r:id="R6f95a3fbca3a490c"/>
    <p:sldId xmlns:r="http://schemas.openxmlformats.org/officeDocument/2006/relationships" id="261" r:id="Rb9bb02a21f5a4362"/>
    <p:sldId xmlns:r="http://schemas.openxmlformats.org/officeDocument/2006/relationships" id="262" r:id="Re99e55f4ec154c76"/>
    <p:sldId xmlns:r="http://schemas.openxmlformats.org/officeDocument/2006/relationships" id="263" r:id="R8e682dc7c13647c0"/>
    <p:sldId xmlns:r="http://schemas.openxmlformats.org/officeDocument/2006/relationships" id="264" r:id="R37886677146d43eb"/>
    <p:sldId xmlns:r="http://schemas.openxmlformats.org/officeDocument/2006/relationships" id="265" r:id="R059d5a4dd84748dd"/>
    <p:sldId xmlns:r="http://schemas.openxmlformats.org/officeDocument/2006/relationships" id="266" r:id="Rdd75f15e4a014440"/>
    <p:sldId xmlns:r="http://schemas.openxmlformats.org/officeDocument/2006/relationships" id="267" r:id="R983349e570354c29"/>
    <p:sldId xmlns:r="http://schemas.openxmlformats.org/officeDocument/2006/relationships" id="268" r:id="R9879ca4a6cd1447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6434507ce93d495f" /><Relationship Type="http://schemas.openxmlformats.org/officeDocument/2006/relationships/theme" Target="/ppt/theme/theme1.xml" Id="R28a3dfadacde4d6e" /><Relationship Type="http://schemas.openxmlformats.org/officeDocument/2006/relationships/presProps" Target="/ppt/presProps.xml" Id="Re1c706a0272e4927" /><Relationship Type="http://schemas.openxmlformats.org/officeDocument/2006/relationships/viewProps" Target="/ppt/viewProps.xml" Id="Rfbed5c57b86c451d" /><Relationship Type="http://schemas.openxmlformats.org/officeDocument/2006/relationships/tableStyles" Target="/ppt/tableStyles.xml" Id="Rf0b9230b00b34f6a" /><Relationship Type="http://schemas.openxmlformats.org/officeDocument/2006/relationships/slide" Target="/ppt/slides/slide1.xml" Id="Rbb9ed8342ee24407" /><Relationship Type="http://schemas.openxmlformats.org/officeDocument/2006/relationships/slide" Target="/ppt/slides/slide2.xml" Id="R30673aafb4f34d29" /><Relationship Type="http://schemas.openxmlformats.org/officeDocument/2006/relationships/slide" Target="/ppt/slides/slide3.xml" Id="R0fb208d7c6954931" /><Relationship Type="http://schemas.openxmlformats.org/officeDocument/2006/relationships/slide" Target="/ppt/slides/slide4.xml" Id="Rc07d2497cf4a458c" /><Relationship Type="http://schemas.openxmlformats.org/officeDocument/2006/relationships/slide" Target="/ppt/slides/slide5.xml" Id="R6f95a3fbca3a490c" /><Relationship Type="http://schemas.openxmlformats.org/officeDocument/2006/relationships/slide" Target="/ppt/slides/slide6.xml" Id="Rb9bb02a21f5a4362" /><Relationship Type="http://schemas.openxmlformats.org/officeDocument/2006/relationships/slide" Target="/ppt/slides/slide7.xml" Id="Re99e55f4ec154c76" /><Relationship Type="http://schemas.openxmlformats.org/officeDocument/2006/relationships/slide" Target="/ppt/slides/slide8.xml" Id="R8e682dc7c13647c0" /><Relationship Type="http://schemas.openxmlformats.org/officeDocument/2006/relationships/slide" Target="/ppt/slides/slide9.xml" Id="R37886677146d43eb" /><Relationship Type="http://schemas.openxmlformats.org/officeDocument/2006/relationships/slide" Target="/ppt/slides/slide10.xml" Id="R059d5a4dd84748dd" /><Relationship Type="http://schemas.openxmlformats.org/officeDocument/2006/relationships/slide" Target="/ppt/slides/slide11.xml" Id="Rdd75f15e4a014440" /><Relationship Type="http://schemas.openxmlformats.org/officeDocument/2006/relationships/slide" Target="/ppt/slides/slide12.xml" Id="R983349e570354c29" /><Relationship Type="http://schemas.openxmlformats.org/officeDocument/2006/relationships/slide" Target="/ppt/slides/slide13.xml" Id="R9879ca4a6cd1447f" /></Relationships>
</file>

<file path=ppt/slideLayouts/_rels/slideLayout2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1b69f45bfc49440c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c9bd2e7fe0e14b66" /><Relationship Type="http://schemas.openxmlformats.org/officeDocument/2006/relationships/theme" Target="/ppt/theme/theme1.xml" Id="Rf34a4760919c48cc" /><Relationship Type="http://schemas.openxmlformats.org/officeDocument/2006/relationships/slideLayout" Target="/ppt/slideLayouts/slideLayout2.xml" Id="R4b19359a22004e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8" r:id="Rc9bd2e7fe0e14b66"/>
    <p:sldLayoutId xmlns:r="http://schemas.openxmlformats.org/officeDocument/2006/relationships" id="2147483649" r:id="R4b19359a22004e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2.xml" Id="R3e1b63f886e24718" 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2.xml" Id="Rab5783168a764ac5" 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/ppt/slideLayouts/slideLayout2.xml" Id="R459eb40e1e484e79" /></Relationships>
</file>

<file path=ppt/slides/_rels/slide4.xml.rels><?xml version="1.0" encoding="utf-8"?><Relationships xmlns="http://schemas.openxmlformats.org/package/2006/relationships"><Relationship Type="http://schemas.openxmlformats.org/officeDocument/2006/relationships/slideLayout" Target="/ppt/slideLayouts/slideLayout2.xml" Id="Rb72e9f9107f1404b" 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slideLayout" Target="/ppt/slideLayouts/slideLayout2.xml" Id="Re5393c0861134269" /><Relationship Type="http://schemas.openxmlformats.org/officeDocument/2006/relationships/image" Target="/ppt/media/image.png" Id="Re7d1db0344144a26" /><Relationship Type="http://schemas.openxmlformats.org/officeDocument/2006/relationships/image" Target="/ppt/media/image.svg" Id="R0a312e69b0a94476" /><Relationship Type="http://schemas.openxmlformats.org/officeDocument/2006/relationships/image" Target="/ppt/media/image2.png" Id="R01b872b88237426f" /><Relationship Type="http://schemas.openxmlformats.org/officeDocument/2006/relationships/image" Target="/ppt/media/image2.svg" Id="Rc986cbc27cf241c3" /><Relationship Type="http://schemas.openxmlformats.org/officeDocument/2006/relationships/image" Target="/ppt/media/image3.png" Id="R0925428a59504c08" /><Relationship Type="http://schemas.openxmlformats.org/officeDocument/2006/relationships/image" Target="/ppt/media/image3.svg" Id="Rc1b451811ab0405a" /></Relationships>
</file>

<file path=ppt/slides/_rels/slide6.xml.rels><?xml version="1.0" encoding="utf-8"?><Relationships xmlns="http://schemas.openxmlformats.org/package/2006/relationships"><Relationship Type="http://schemas.openxmlformats.org/officeDocument/2006/relationships/slideLayout" Target="/ppt/slideLayouts/slideLayout2.xml" Id="R64f03256118d40df" /></Relationships>
</file>

<file path=ppt/slides/_rels/slide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717dd85679244e43" /><Relationship Type="http://schemas.openxmlformats.org/officeDocument/2006/relationships/image" Target="/ppt/media/image4.png" Id="Rb468262948904434" /><Relationship Type="http://schemas.openxmlformats.org/officeDocument/2006/relationships/image" Target="/ppt/media/image5.png" Id="R9d7664f00d1c4bea" /><Relationship Type="http://schemas.openxmlformats.org/officeDocument/2006/relationships/image" Target="/ppt/media/image6.png" Id="Reaa722a16a7649d8" /><Relationship Type="http://schemas.openxmlformats.org/officeDocument/2006/relationships/image" Target="/ppt/media/image7.png" Id="R682a1f91d99045f9" /><Relationship Type="http://schemas.openxmlformats.org/officeDocument/2006/relationships/image" Target="/ppt/media/image8.png" Id="Rf46f871cd17b4801" /><Relationship Type="http://schemas.openxmlformats.org/officeDocument/2006/relationships/image" Target="/ppt/media/image9.png" Id="R72f4b39ac95141fa" /></Relationships>
</file>

<file path=ppt/slides/_rels/slide8.xml.rels><?xml version="1.0" encoding="utf-8"?><Relationships xmlns="http://schemas.openxmlformats.org/package/2006/relationships"><Relationship Type="http://schemas.openxmlformats.org/officeDocument/2006/relationships/slideLayout" Target="/ppt/slideLayouts/slideLayout2.xml" Id="R650fe7a4510e4d07" /><Relationship Type="http://schemas.openxmlformats.org/officeDocument/2006/relationships/image" Target="/ppt/media/image10.png" Id="R112deef4706c438c" /></Relationships>
</file>

<file path=ppt/slides/_rels/slide9.xml.rels><?xml version="1.0" encoding="utf-8"?><Relationships xmlns="http://schemas.openxmlformats.org/package/2006/relationships"><Relationship Type="http://schemas.openxmlformats.org/officeDocument/2006/relationships/slideLayout" Target="/ppt/slideLayouts/slideLayout2.xml" Id="R2a11a914ab1f4712" /><Relationship Type="http://schemas.openxmlformats.org/officeDocument/2006/relationships/image" Target="/ppt/media/image11.png" Id="Rbb5a293d80a042f9" /></Relationships>
</file>

<file path=ppt/slides/_rels/slide10.xml.rels><?xml version="1.0" encoding="utf-8"?><Relationships xmlns="http://schemas.openxmlformats.org/package/2006/relationships"><Relationship Type="http://schemas.openxmlformats.org/officeDocument/2006/relationships/slideLayout" Target="/ppt/slideLayouts/slideLayout2.xml" Id="R5caa8e83d85c4ca4" /><Relationship Type="http://schemas.openxmlformats.org/officeDocument/2006/relationships/image" Target="/ppt/media/image12.png" Id="R920159b78a434c48" /></Relationships>
</file>

<file path=ppt/slides/_rels/slide11.xml.rels><?xml version="1.0" encoding="utf-8"?><Relationships xmlns="http://schemas.openxmlformats.org/package/2006/relationships"><Relationship Type="http://schemas.openxmlformats.org/officeDocument/2006/relationships/slideLayout" Target="/ppt/slideLayouts/slideLayout2.xml" Id="R6ca871447f804932" /><Relationship Type="http://schemas.openxmlformats.org/officeDocument/2006/relationships/image" Target="/ppt/media/image13.png" Id="Re9174f7c15f34449" /></Relationships>
</file>

<file path=ppt/slides/_rels/slide12.xml.rels><?xml version="1.0" encoding="utf-8"?><Relationships xmlns="http://schemas.openxmlformats.org/package/2006/relationships"><Relationship Type="http://schemas.openxmlformats.org/officeDocument/2006/relationships/slideLayout" Target="/ppt/slideLayouts/slideLayout2.xml" Id="R8d32298d20044771" /><Relationship Type="http://schemas.openxmlformats.org/officeDocument/2006/relationships/image" Target="/ppt/media/image14.png" Id="Rd9f6e28078454523" /></Relationships>
</file>

<file path=ppt/slides/_rels/slide13.xml.rels><?xml version="1.0" encoding="utf-8"?><Relationships xmlns="http://schemas.openxmlformats.org/package/2006/relationships"><Relationship Type="http://schemas.openxmlformats.org/officeDocument/2006/relationships/slideLayout" Target="/ppt/slideLayouts/slideLayout2.xml" Id="R6f82780711974feb" /><Relationship Type="http://schemas.openxmlformats.org/officeDocument/2006/relationships/image" Target="/ppt/media/image4.svg" Id="Rad8feb9ac28c48ff" /><Relationship Type="http://schemas.openxmlformats.org/officeDocument/2006/relationships/image" Target="/ppt/media/image10.png" Id="R34a2184a4a4c487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64111F-FAF6-4559-8B87-DF1D8404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0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62A628-CCB6-429C-8720-CE706499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578FC8-81AB-447F-A850-EDC013DA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45226C-FBC7-4A85-A191-0D1407FC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286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9437C1-46AB-4CC8-9B07-99FD9F6C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019800"/>
            <a:ext cx="209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5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5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ЗАЩИТА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7E2C34-D739-488A-8101-72B1FD30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3627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DBFC1"/>
          </a:solidFill>
          <a:ln xmlns:a="http://schemas.openxmlformats.org/drawingml/2006/main" w="0">
            <a:solidFill>
              <a:srgbClr val="BDBF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594162-F3EA-477B-A491-639F9C69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38200"/>
            <a:ext cx="609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6AA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06AAE"/>
                </a:solidFill>
                <a:latin typeface="Calibri"/>
                <a:ea typeface="Calibri"/>
                <a:cs typeface="Calibri"/>
              </a:rPr>
              <a:t>Дипломный проект на тему: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4DA2EB-AAC8-4CF9-A28C-38B007D2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62050"/>
            <a:ext cx="7239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006AAE"/>
                </a:solidFill>
                <a:latin typeface="Calibri"/>
                <a:ea typeface="Calibri"/>
                <a:cs typeface="Calibri"/>
              </a:defRPr>
            </a:pPr>
            <a:r>
              <a:rPr sz="2475" b="1">
                <a:solidFill>
                  <a:srgbClr val="006AAE"/>
                </a:solidFill>
                <a:latin typeface="Calibri"/>
                <a:ea typeface="Calibri"/>
                <a:cs typeface="Calibri"/>
              </a:rPr>
              <a:t>Платформа удалённого обучения сотрудников</a:t>
            </a:r>
          </a:p>
          <a:p xmlns:a="http://schemas.openxmlformats.org/drawingml/2006/main">
            <a:pPr algn="l">
              <a:buNone/>
              <a:defRPr sz="2475" b="1">
                <a:solidFill>
                  <a:srgbClr val="006AAE"/>
                </a:solidFill>
                <a:latin typeface="Calibri"/>
                <a:ea typeface="Calibri"/>
                <a:cs typeface="Calibri"/>
              </a:defRPr>
            </a:pPr>
            <a:r>
              <a:rPr sz="2475" b="1">
                <a:solidFill>
                  <a:srgbClr val="006AAE"/>
                </a:solidFill>
                <a:latin typeface="Calibri"/>
                <a:ea typeface="Calibri"/>
                <a:cs typeface="Calibri"/>
              </a:rPr>
              <a:t>с элементами геймификации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478251-24D0-4007-8063-18DE3D83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619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LearnHub LMS объединяет управление контентом, обучение сотрудников, мотивацию, аналитику и обратную связь в одной веб-системе.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0D5A41-367C-462C-977C-A0990081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838200"/>
            <a:ext cx="3067050" cy="4076700"/>
          </a:xfrm>
          <a:prstGeom xmlns:a="http://schemas.openxmlformats.org/drawingml/2006/main" prst="roundRect">
            <a:avLst>
              <a:gd name="adj" fmla="val 31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3DB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5FEA90-0D7C-44F8-8586-61F7F605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21920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006AA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6AAE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06AAE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D5C077-6B88-4DF6-BC73-4F17FC0F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2573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CMS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2592AE-16C5-435F-A6E8-DD9353E9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8595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D67B25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D67B25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D67B25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A90BCA-A72E-4447-ACCD-B367C1B6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240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XP / бейджи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6CA203-E692-47E7-AFB5-892BAF6A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5270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328A6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328A63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328A63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EE3C04-A770-4A5B-9DB4-AC8763E7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5908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Профиль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755D52-8F54-4D57-8371-D11FB498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1945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7156A4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7156A4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7156A4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645997-C90B-44A2-835D-D49D5D18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575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Аналитика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84E3C6-41E9-47B5-BB5E-6DF40F94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8620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2686A5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686A5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686A5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C3D9B8-3CCC-47C4-9305-10DCE476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243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Фидбек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D22AF1-C8C2-4355-A223-218CBEB1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0"/>
            <a:ext cx="3143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10478">
            <a:solidFill>
              <a:srgbClr val="006AAE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6AAE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006AAE"/>
                </a:solidFill>
                <a:latin typeface="Calibri"/>
                <a:ea typeface="Calibri"/>
                <a:cs typeface="Calibri"/>
              </a:rPr>
              <a:t>production: employee-learning-lms.vercel.app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DD7C1F-BEB7-424E-87CA-9931FFD4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0540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Командный проект: пять самостоятельных дипломных модулей</a:t>
            </a:r>
          </a:p>
        </p:txBody>
      </p:sp>
    </p:spTree>
    <p:extLst>
      <p:ext uri="{BB962C8B-B14F-4D97-AF65-F5344CB8AC3E}">
        <p14:creationId xmlns:p14="http://schemas.microsoft.com/office/powerpoint/2010/main" val="10826309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AC2EAB-5B56-4739-9FD5-DEE8432F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0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1D89BC-0BEF-4400-A843-EA4D36CE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5F2CD3-9183-4818-8CC2-7452F151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8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DAF855-E69B-4436-8C5F-E75F4E1D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286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C97AE4-9F49-40F5-A33F-CCC958AD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019800"/>
            <a:ext cx="209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5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5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СТРУКТУРА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DDB94-A58E-4DA3-A3D5-F775A196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3627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DBFC1"/>
          </a:solidFill>
          <a:ln xmlns:a="http://schemas.openxmlformats.org/drawingml/2006/main" w="0">
            <a:solidFill>
              <a:srgbClr val="BDBF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C46015-9FCF-4A84-8CF8-0C1E40B1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914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Логика защиты: от проблемы к работающему программному продукту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323686-AF61-4EAE-891F-1922283D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06AAE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06AAE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F419F6-ED17-41DB-82B0-5BA27DB4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F686E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86E"/>
                </a:solidFill>
                <a:latin typeface="Calibri"/>
                <a:ea typeface="Calibri"/>
                <a:cs typeface="Calibri"/>
              </a:rPr>
              <a:t>Актуальность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EB935C-4846-4E84-8037-DFB8D90B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790700"/>
            <a:ext cx="1666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990" b="0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почему корпоративному обучению нужна единая LMS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38EAF8-CFCB-410A-A277-C1C90DD3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7145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328A63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328A63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D569B3-FFFE-4098-B6EB-2F7E7CE2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7170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F686E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86E"/>
                </a:solidFill>
                <a:latin typeface="Calibri"/>
                <a:ea typeface="Calibri"/>
                <a:cs typeface="Calibri"/>
              </a:rPr>
              <a:t>Проектирование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A6E231-CF27-48FB-B4F1-579957DF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90700"/>
            <a:ext cx="1666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990" b="0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требования, архитектура, данные и роли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3DD5B9-8A79-4BAC-B835-766D2C46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7156A4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7156A4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EEC491-F0AC-412E-87C0-26758565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F686E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86E"/>
                </a:solidFill>
                <a:latin typeface="Calibri"/>
                <a:ea typeface="Calibri"/>
                <a:cs typeface="Calibri"/>
              </a:rPr>
              <a:t>Реализация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E77890-753E-4EAC-B07C-BDCA002C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790700"/>
            <a:ext cx="1666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990" b="0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пять модулей, интерфейсы и ключевые сценарии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A8B05-13BA-4DAC-967F-61FA4F5F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145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D67B25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D67B25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8FCEBC-3FD1-44CD-8A4C-5E181933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7170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F686E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86E"/>
                </a:solidFill>
                <a:latin typeface="Calibri"/>
                <a:ea typeface="Calibri"/>
                <a:cs typeface="Calibri"/>
              </a:rPr>
              <a:t>Проверка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576E57-FD55-44AA-AAF4-8F18749D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790700"/>
            <a:ext cx="1666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990" b="0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тестирование, деплой, практический эффект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CA050B-FEE6-4FD6-BAC9-7CD04C17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0400"/>
            <a:ext cx="876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8"/>
          </a:solidFill>
          <a:ln xmlns:a="http://schemas.openxmlformats.org/drawingml/2006/main" w="0">
            <a:solidFill>
              <a:srgbClr val="CAD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23FF8D-9303-43F6-8C81-2930FA23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0480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AAE"/>
          </a:solidFill>
          <a:ln xmlns:a="http://schemas.openxmlformats.org/drawingml/2006/main" w="0">
            <a:solidFill>
              <a:srgbClr val="006AA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0EF6B2-888B-477B-B210-ED94913E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095625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877E17-8473-4CCB-9B78-1213B3CA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505200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Контент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900B28-3968-4DF3-B09A-454C8C00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0480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7B25"/>
          </a:solidFill>
          <a:ln xmlns:a="http://schemas.openxmlformats.org/drawingml/2006/main" w="0">
            <a:solidFill>
              <a:srgbClr val="D67B2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9A4E71-55DF-47F8-851B-97F7CCF6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095625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81D9C5-A7A7-4D90-9B2C-4AC8AB8E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05200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Геймификация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3065E5-C864-4C79-B2A9-56B4BCFE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480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8A63"/>
          </a:solidFill>
          <a:ln xmlns:a="http://schemas.openxmlformats.org/drawingml/2006/main" w="0">
            <a:solidFill>
              <a:srgbClr val="328A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F66FD0-F095-48B5-ADC3-B122ECFD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95625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D2FBFD-A4C6-49BC-83A1-DF23D0BF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505200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Кабинет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3261FA-D26F-4FEB-92DA-71BEBB4A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0480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156A4"/>
          </a:solidFill>
          <a:ln xmlns:a="http://schemas.openxmlformats.org/drawingml/2006/main" w="0">
            <a:solidFill>
              <a:srgbClr val="7156A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5DBA6B-DFCF-4E56-AE23-F66D5314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095625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3ACE21-AD66-417F-A95D-C3F4B969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05200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Аналитика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D46773-E967-4F18-B4BF-8755A522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0480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86A5"/>
          </a:solidFill>
          <a:ln xmlns:a="http://schemas.openxmlformats.org/drawingml/2006/main" w="0">
            <a:solidFill>
              <a:srgbClr val="2686A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E6FD26-6483-4257-9144-C0B9A08C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095625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678A3C-2F5B-400C-944A-951A44A0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505200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Связь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E23D97-0406-4D33-90D4-818CC890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91050"/>
            <a:ext cx="9334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BE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A3FA98-810F-41A8-B45E-3E5D4246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910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AE"/>
          </a:solidFill>
          <a:ln xmlns:a="http://schemas.openxmlformats.org/drawingml/2006/main" w="0">
            <a:solidFill>
              <a:srgbClr val="006AA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258B5A-0180-4346-8A37-79349625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897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6AAE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06AAE"/>
                </a:solidFill>
                <a:latin typeface="Calibri"/>
                <a:ea typeface="Calibri"/>
                <a:cs typeface="Calibri"/>
              </a:rPr>
              <a:t>Разделение для 5 выступающих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0929F2-9733-49F3-A21E-6FD4BC4B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05400"/>
            <a:ext cx="897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Каждый участник показывает свой модуль как самостоятельную часть общей LMS: цель, задачи, проектирование, реализацию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194154216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536AD2-B947-44AC-8008-D7340085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0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BAAEAF-4519-4190-A60D-64DE48BB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A40C70-1401-46AA-B6FB-580FC08B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65FE2-BD21-4CF2-AC0D-D1E45787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286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22D3FF-8994-43E2-8267-97BC1CA2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019800"/>
            <a:ext cx="209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5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5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АНАЛИЗ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C8F949-BEF2-4B48-AE09-56653879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3627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DBFC1"/>
          </a:solidFill>
          <a:ln xmlns:a="http://schemas.openxmlformats.org/drawingml/2006/main" w="0">
            <a:solidFill>
              <a:srgbClr val="BDBF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10E229-4141-4305-A13E-817E91CC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914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Актуальность: обучение есть, но управляемого цифрового контура часто нет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663395-0C44-44EB-B18E-98690829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30670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B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766109-BD8F-4E16-A464-B47A5A56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A5A"/>
          </a:solidFill>
          <a:ln xmlns:a="http://schemas.openxmlformats.org/drawingml/2006/main" w="0">
            <a:solidFill>
              <a:srgbClr val="B85A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C4F816-D368-4AB3-A840-E6669205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2880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85A5A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B85A5A"/>
                </a:solidFill>
                <a:latin typeface="Calibri"/>
                <a:ea typeface="Calibri"/>
                <a:cs typeface="Calibri"/>
              </a:rPr>
              <a:t>Разрозненный контент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7FC44A-22B7-4616-B5DC-9F14FDC1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71700"/>
            <a:ext cx="2705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материалы живут в файлах, чатах и ручных рассылках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03E14A-C4AB-4421-A848-0394DDC1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57350"/>
            <a:ext cx="30670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B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6FDF60-87E0-4454-8D03-052682C3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5735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A5A"/>
          </a:solidFill>
          <a:ln xmlns:a="http://schemas.openxmlformats.org/drawingml/2006/main" w="0">
            <a:solidFill>
              <a:srgbClr val="B85A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EBA16B-527C-4B8F-8AA9-AC5BAD9C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2880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85A5A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B85A5A"/>
                </a:solidFill>
                <a:latin typeface="Calibri"/>
                <a:ea typeface="Calibri"/>
                <a:cs typeface="Calibri"/>
              </a:rPr>
              <a:t>Ручной контроль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FAEA3E-F665-4987-8361-65696D5B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71700"/>
            <a:ext cx="2705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HR сложно видеть сроки, прогресс и риск просрочки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09071B-9D57-4C2C-A756-5456E900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57350"/>
            <a:ext cx="30670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B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9A3A69-75D9-49C9-98AE-4A0BDE63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5735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A5A"/>
          </a:solidFill>
          <a:ln xmlns:a="http://schemas.openxmlformats.org/drawingml/2006/main" w="0">
            <a:solidFill>
              <a:srgbClr val="B85A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B254BA-D707-473F-860D-E7EE6DE4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2880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85A5A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B85A5A"/>
                </a:solidFill>
                <a:latin typeface="Calibri"/>
                <a:ea typeface="Calibri"/>
                <a:cs typeface="Calibri"/>
              </a:rPr>
              <a:t>Слабая мотивация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5C8B42-161E-4B6F-B89E-0AB517CF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71700"/>
            <a:ext cx="2705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сотрудник не видит маршрута, наград и личного результата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822443-C5CE-4046-85E2-67EABD7E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142875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7156A4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Автор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публикует курс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1D1FA5-87DA-46F5-BB8E-6F8673AA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210050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6A4"/>
          </a:solidFill>
          <a:ln xmlns:a="http://schemas.openxmlformats.org/drawingml/2006/main" w="0">
            <a:solidFill>
              <a:srgbClr val="7156A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A360CC-A7B6-4093-B02C-5006DEC8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905250"/>
            <a:ext cx="142875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006AAE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HR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назначает срок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5791EE-EB9A-4A95-8255-9FC06ADB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10050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AE"/>
          </a:solidFill>
          <a:ln xmlns:a="http://schemas.openxmlformats.org/drawingml/2006/main" w="0">
            <a:solidFill>
              <a:srgbClr val="006AA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E2C553-950A-4373-88E7-E66AEC84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05250"/>
            <a:ext cx="142875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328A63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Сотрудник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проходит обучение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FE2A00-1B7A-40A1-9C1B-10098549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10050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8A63"/>
          </a:solidFill>
          <a:ln xmlns:a="http://schemas.openxmlformats.org/drawingml/2006/main" w="0">
            <a:solidFill>
              <a:srgbClr val="328A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A93DF6-6E48-4FCC-8A47-D9B2C063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05250"/>
            <a:ext cx="142875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67B25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LMS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считает прогресс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9A806E-4BE3-46EF-9E0F-2D6FDAB6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210050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7B25"/>
          </a:solidFill>
          <a:ln xmlns:a="http://schemas.openxmlformats.org/drawingml/2006/main" w="0">
            <a:solidFill>
              <a:srgbClr val="D67B2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5FA1B4-55E8-4968-9AFF-2969B9F4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905250"/>
            <a:ext cx="142875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2686A5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Руководитель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получает отчёт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FC0EA1-E814-4FCA-A866-CEB9F02A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3400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28A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28A63"/>
                </a:solidFill>
                <a:latin typeface="Calibri"/>
                <a:ea typeface="Calibri"/>
                <a:cs typeface="Calibri"/>
              </a:rPr>
              <a:t>Целевой результат: единая платформа удалённого обучения с ролями, дедлайнами, геймификацией и аналитикой.</a:t>
            </a:r>
          </a:p>
        </p:txBody>
      </p:sp>
    </p:spTree>
    <p:extLst>
      <p:ext uri="{BB962C8B-B14F-4D97-AF65-F5344CB8AC3E}">
        <p14:creationId xmlns:p14="http://schemas.microsoft.com/office/powerpoint/2010/main" val="71695788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76AEB2-992E-4872-8F5F-986F8E45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0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CA29EA-4BB3-457E-94E5-E5A3718A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3ABB8-E1BF-4B7A-BF56-8DAF9B70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44E20F-4767-47F1-A5B0-03B8EA87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286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FF2CF2-96F2-41AB-9023-DB4577AA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019800"/>
            <a:ext cx="209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5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5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ТРЕБОВАНИЯ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24A70-6A81-4B30-B680-1AFC53FF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3627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DBFC1"/>
          </a:solidFill>
          <a:ln xmlns:a="http://schemas.openxmlformats.org/drawingml/2006/main" w="0">
            <a:solidFill>
              <a:srgbClr val="BDBF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D6AA7-696C-4E2D-8D90-87C75681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914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Требования сформированы вокруг ролей и дипломных модулей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E7B1AC-62CA-4D71-B96A-C9AE8B79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33550"/>
            <a:ext cx="2724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328A6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328A63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328A63"/>
                </a:solidFill>
                <a:latin typeface="Calibri"/>
                <a:ea typeface="Calibri"/>
                <a:cs typeface="Calibri"/>
              </a:rPr>
              <a:t>Сотрудник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9CDF37-3533-4D66-88A8-730B8DFA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71725"/>
            <a:ext cx="66675" cy="666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28A63"/>
          </a:solidFill>
          <a:ln xmlns:a="http://schemas.openxmlformats.org/drawingml/2006/main" w="0">
            <a:solidFill>
              <a:srgbClr val="328A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1FE64B-F460-4E3E-9CCD-617949AD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0505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каталог и уроки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954E26-FF66-43F4-ABE9-4D3FA1B2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90825"/>
            <a:ext cx="66675" cy="666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28A63"/>
          </a:solidFill>
          <a:ln xmlns:a="http://schemas.openxmlformats.org/drawingml/2006/main" w="0">
            <a:solidFill>
              <a:srgbClr val="328A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4AAE4B-07C4-4080-9843-AC01A3D9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2415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тесты и прогресс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8D5AF8-B4BD-47B7-9D3F-01A3384A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09925"/>
            <a:ext cx="66675" cy="666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28A63"/>
          </a:solidFill>
          <a:ln xmlns:a="http://schemas.openxmlformats.org/drawingml/2006/main" w="0">
            <a:solidFill>
              <a:srgbClr val="328A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891D2A-06F7-40F9-9E9B-BB3F1959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4325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дедлайны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615CFF-F5B4-4949-B55C-D8E22605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29025"/>
            <a:ext cx="66675" cy="666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28A63"/>
          </a:solidFill>
          <a:ln xmlns:a="http://schemas.openxmlformats.org/drawingml/2006/main" w="0">
            <a:solidFill>
              <a:srgbClr val="328A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A85D6E-742F-4655-AE05-37460C96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6235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награды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BEEFA8-28B3-4B17-9FE0-7B4CAE13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33550"/>
            <a:ext cx="2724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06AAE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6AAE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006AAE"/>
                </a:solidFill>
                <a:latin typeface="Calibri"/>
                <a:ea typeface="Calibri"/>
                <a:cs typeface="Calibri"/>
              </a:rPr>
              <a:t>HR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AC7316-2F38-449F-AD8E-A442F4F9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71725"/>
            <a:ext cx="66675" cy="666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06AAE"/>
          </a:solidFill>
          <a:ln xmlns:a="http://schemas.openxmlformats.org/drawingml/2006/main" w="0">
            <a:solidFill>
              <a:srgbClr val="006AA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0BF255-9567-4CF4-8164-A34C3E00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30505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назначение курсов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853B4E-26D7-4682-8F54-98905C40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90825"/>
            <a:ext cx="66675" cy="666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06AAE"/>
          </a:solidFill>
          <a:ln xmlns:a="http://schemas.openxmlformats.org/drawingml/2006/main" w="0">
            <a:solidFill>
              <a:srgbClr val="006A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B3AFEC-59A5-4E9E-A61F-63CA0F37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2415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самостоятельный дедлайн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931463-D5AF-4C76-9CC9-1A354D3F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09925"/>
            <a:ext cx="66675" cy="666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06AAE"/>
          </a:solidFill>
          <a:ln xmlns:a="http://schemas.openxmlformats.org/drawingml/2006/main" w="0">
            <a:solidFill>
              <a:srgbClr val="006AA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AF5103-0A54-4D20-A564-FD5597C6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4325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дашборды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74C31A-3EDF-4BCD-AEE5-DA0811FD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29025"/>
            <a:ext cx="66675" cy="666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06AAE"/>
          </a:solidFill>
          <a:ln xmlns:a="http://schemas.openxmlformats.org/drawingml/2006/main" w="0">
            <a:solidFill>
              <a:srgbClr val="006AA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6FB1FD-F5FB-4C38-9D3F-730B9A73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6235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CSV-отчёты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D6DD93-5577-4B5D-8405-3A84583A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2724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7156A4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7156A4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7156A4"/>
                </a:solidFill>
                <a:latin typeface="Calibri"/>
                <a:ea typeface="Calibri"/>
                <a:cs typeface="Calibri"/>
              </a:rPr>
              <a:t>Автор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6954F5-F2FD-4E15-92E3-E2AECDD5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71725"/>
            <a:ext cx="66675" cy="666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7156A4"/>
          </a:solidFill>
          <a:ln xmlns:a="http://schemas.openxmlformats.org/drawingml/2006/main" w="0">
            <a:solidFill>
              <a:srgbClr val="7156A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F9ACF1-6337-44CF-828E-D35E7D85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0505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создание курсов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B1EFD9-AE84-4900-BEF1-8329B913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90825"/>
            <a:ext cx="66675" cy="666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7156A4"/>
          </a:solidFill>
          <a:ln xmlns:a="http://schemas.openxmlformats.org/drawingml/2006/main" w="0">
            <a:solidFill>
              <a:srgbClr val="7156A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FDAFF3-9D6E-4D2D-93C9-CDBCCB58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конструктор тестов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A3FB2F-E619-4F79-B064-73F5576F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09925"/>
            <a:ext cx="66675" cy="666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7156A4"/>
          </a:solidFill>
          <a:ln xmlns:a="http://schemas.openxmlformats.org/drawingml/2006/main" w="0">
            <a:solidFill>
              <a:srgbClr val="7156A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6F8477-0C58-48B9-900F-48DA11E5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обратная связь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4D37B7-F38F-4D6C-BAE0-49BE9E7C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29025"/>
            <a:ext cx="66675" cy="666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7156A4"/>
          </a:solidFill>
          <a:ln xmlns:a="http://schemas.openxmlformats.org/drawingml/2006/main" w="0">
            <a:solidFill>
              <a:srgbClr val="7156A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63E5BB-1756-488E-9663-8B35ABE7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переходы в курсы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97C344-2D1C-4AC9-BEA0-2E04791A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81550"/>
            <a:ext cx="4762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B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DC7627-15BE-4B22-A4AA-ADA5186C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815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7B25"/>
          </a:solidFill>
          <a:ln xmlns:a="http://schemas.openxmlformats.org/drawingml/2006/main" w="0">
            <a:solidFill>
              <a:srgbClr val="D67B2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3429A5-9BAC-46B8-A5BB-D275F1CA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953000"/>
            <a:ext cx="440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67B25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D67B25"/>
                </a:solidFill>
                <a:latin typeface="Calibri"/>
                <a:ea typeface="Calibri"/>
                <a:cs typeface="Calibri"/>
              </a:rPr>
              <a:t>Нефункциональные требования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11F2966-45BD-4347-A207-2310D3B4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295900"/>
            <a:ext cx="4400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адаптивный интерфейс, роль-based доступ, устойчивое хранение, серверная синхронизация, понятная демонстрация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E2E7ACE-2B02-4C62-A2C9-13021D41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81550"/>
            <a:ext cx="4762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BE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A7E530-6F03-4EE0-92F3-3B86A48B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815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86A5"/>
          </a:solidFill>
          <a:ln xmlns:a="http://schemas.openxmlformats.org/drawingml/2006/main" w="0">
            <a:solidFill>
              <a:srgbClr val="2686A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3930981-B9D3-4E83-887A-D3FAD744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53000"/>
            <a:ext cx="440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686A5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686A5"/>
                </a:solidFill>
                <a:latin typeface="Calibri"/>
                <a:ea typeface="Calibri"/>
                <a:cs typeface="Calibri"/>
              </a:rPr>
              <a:t>Инструменты реализации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ADDCA6C-4C75-4FC0-AFF8-316FA99F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295900"/>
            <a:ext cx="4400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Next.js App Router, React, TypeScript, Vitest, Playwright, PostgreSQL при DATABASE_URL, JSON fallback</a:t>
            </a:r>
          </a:p>
        </p:txBody>
      </p:sp>
    </p:spTree>
    <p:extLst>
      <p:ext uri="{BB962C8B-B14F-4D97-AF65-F5344CB8AC3E}">
        <p14:creationId xmlns:p14="http://schemas.microsoft.com/office/powerpoint/2010/main" val="212969428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628ECF-4156-4DE1-ADDC-EA0880E2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0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70406-9586-40F5-A657-BBF3A943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021773-32B0-4A49-A27F-F942DF02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6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8696F0-AE9D-4910-894F-B71B9014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286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857244-1DE1-4106-B33A-8182D0E0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019800"/>
            <a:ext cx="209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5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5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АРХИТЕКТУРА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FA9C77-C9AC-4597-B12F-8421FD1E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3627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DBFC1"/>
          </a:solidFill>
          <a:ln xmlns:a="http://schemas.openxmlformats.org/drawingml/2006/main" w="0">
            <a:solidFill>
              <a:srgbClr val="BDBF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6C9292-5DBE-4861-AA42-C7EB2DE9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914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Архитектура LMS: интерфейс, состояние, API и постоянное хранение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A332C6-4D2A-447F-84B6-941F7F15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81175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6AAE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006AAE"/>
                </a:solidFill>
                <a:latin typeface="Calibri"/>
                <a:ea typeface="Calibri"/>
                <a:cs typeface="Calibri"/>
              </a:rPr>
              <a:t>Роли и страницы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EC413-4CDA-49BE-B2D4-1F17D9EF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19250"/>
            <a:ext cx="6191250" cy="6096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006AAE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employee · HR · author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courses · profile · analytics · feedback · 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2376A6-E809-42E5-9897-9F1788C8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22885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AE"/>
          </a:solidFill>
          <a:ln xmlns:a="http://schemas.openxmlformats.org/drawingml/2006/main" w="0">
            <a:solidFill>
              <a:srgbClr val="006AA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6FC299-21EE-4168-8B02-0343D12E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57475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28A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328A63"/>
                </a:solidFill>
                <a:latin typeface="Calibri"/>
                <a:ea typeface="Calibri"/>
                <a:cs typeface="Calibri"/>
              </a:rPr>
              <a:t>Бизнес-логика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D2D6FB-FA44-4DC7-86AA-C5F6B089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95550"/>
            <a:ext cx="6191250" cy="6096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328A63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progress · assignments · quiz · XP · rewards · feedback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98F9B2-42AA-4B49-905F-DF856B74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10515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8A63"/>
          </a:solidFill>
          <a:ln xmlns:a="http://schemas.openxmlformats.org/drawingml/2006/main" w="0">
            <a:solidFill>
              <a:srgbClr val="328A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DB7B17-96A4-4D77-979A-DF34C5C2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33775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156A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7156A4"/>
                </a:solidFill>
                <a:latin typeface="Calibri"/>
                <a:ea typeface="Calibri"/>
                <a:cs typeface="Calibri"/>
              </a:rPr>
              <a:t>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3830B2-36D2-4473-A005-2D58985F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71850"/>
            <a:ext cx="6191250" cy="6096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7156A4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/api/lms/state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/api/lms/status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9522B5-32DF-4517-885A-05A8CAC6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98145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6A4"/>
          </a:solidFill>
          <a:ln xmlns:a="http://schemas.openxmlformats.org/drawingml/2006/main" w="0">
            <a:solidFill>
              <a:srgbClr val="7156A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B1964A-500B-44B4-9130-F17ADE43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0075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67B25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D67B25"/>
                </a:solidFill>
                <a:latin typeface="Calibri"/>
                <a:ea typeface="Calibri"/>
                <a:cs typeface="Calibri"/>
              </a:rPr>
              <a:t>Storage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0CC4C4-8792-4A21-AE8B-04E22BB4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248150"/>
            <a:ext cx="6191250" cy="6096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67B25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PostgreSQL при DATABASE_URL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локальный JSON fallback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d1db0344144a26">
            <a:extLst>
              <a:ext uri="{96DAC541-7B7A-43D3-8B79-37D633B846F1}">
                <asvg:svgBlip xmlns:asvg="http://schemas.microsoft.com/office/drawing/2016/SVG/main" r:embed="R0a312e69b0a9447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477375" y="20955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1E55CE-DFD2-4D3A-BDAE-AF28A8F2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0764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Сотрудник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77468A-70AE-4C6A-B4FC-96CAB6E5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3241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86E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5F686E"/>
                </a:solidFill>
                <a:latin typeface="Calibri"/>
                <a:ea typeface="Calibri"/>
                <a:cs typeface="Calibri"/>
              </a:rPr>
              <a:t>проходит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b872b88237426f">
            <a:extLst>
              <a:ext uri="{96DAC541-7B7A-43D3-8B79-37D633B846F1}">
                <asvg:svgBlip xmlns:asvg="http://schemas.microsoft.com/office/drawing/2016/SVG/main" r:embed="Rc986cbc27cf241c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477375" y="31242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E23B5D-2B77-4976-81AB-8CEF6FAB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1051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HR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BB0D2C-2D8A-4F04-A7C3-3F479B67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3528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86E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5F686E"/>
                </a:solidFill>
                <a:latin typeface="Calibri"/>
                <a:ea typeface="Calibri"/>
                <a:cs typeface="Calibri"/>
              </a:rPr>
              <a:t>управляет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25428a59504c08">
            <a:extLst>
              <a:ext uri="{96DAC541-7B7A-43D3-8B79-37D633B846F1}">
                <asvg:svgBlip xmlns:asvg="http://schemas.microsoft.com/office/drawing/2016/SVG/main" r:embed="Rc1b451811ab0405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477375" y="41529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4E6B51-5196-4361-A22F-31AEA062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338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Автор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60C38D-7202-4037-B015-BCF10009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3815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86E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5F686E"/>
                </a:solidFill>
                <a:latin typeface="Calibri"/>
                <a:ea typeface="Calibri"/>
                <a:cs typeface="Calibri"/>
              </a:rPr>
              <a:t>создаёт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F70F18-6AEF-4B56-9417-1C4C4D17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257800"/>
            <a:ext cx="1962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0E4"/>
          </a:solidFill>
          <a:ln xmlns:a="http://schemas.openxmlformats.org/drawingml/2006/main" w="10478">
            <a:solidFill>
              <a:srgbClr val="D67B25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D67B25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D67B25"/>
                </a:solidFill>
                <a:latin typeface="Calibri"/>
                <a:ea typeface="Calibri"/>
                <a:cs typeface="Calibri"/>
              </a:rPr>
              <a:t>production deploy: Vercel</a:t>
            </a:r>
          </a:p>
        </p:txBody>
      </p:sp>
    </p:spTree>
    <p:extLst>
      <p:ext uri="{BB962C8B-B14F-4D97-AF65-F5344CB8AC3E}">
        <p14:creationId xmlns:p14="http://schemas.microsoft.com/office/powerpoint/2010/main" val="191519981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A87C31-49D6-494F-A643-50DB5B83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0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7D4393-8677-4EAA-A9C1-9E75A03B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75235F-7445-4FC0-B159-FCADF052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8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F1E817-6AD7-4442-88BA-A1292127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286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D03A12-B116-4C06-B2C0-0A99DAC8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019800"/>
            <a:ext cx="209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5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5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ДАННЫЕ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BCCE4C-BCE7-4C32-8A9F-17389F9F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3627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DBFC1"/>
          </a:solidFill>
          <a:ln xmlns:a="http://schemas.openxmlformats.org/drawingml/2006/main" w="0">
            <a:solidFill>
              <a:srgbClr val="BDBF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912DDE-0BA9-4D9C-A543-59451B5F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914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Информационная модель связывает контент, прогресс, мотивацию и обратную связь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713B59-3289-4F96-BE2D-E0CB6DDE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809750"/>
            <a:ext cx="146685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006AAE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User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B3382B-FD9C-4E0C-AD54-BD6E37A3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09750"/>
            <a:ext cx="146685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7156A4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Course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A6DB24-6AD7-4FB9-B44C-835B2D6C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809750"/>
            <a:ext cx="146685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7156A4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Lesson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D54FB5-FAFA-439D-8DA9-4A33D54F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81350"/>
            <a:ext cx="146685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67B25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Assignment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17D088-4354-4559-ABE9-2587733A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81350"/>
            <a:ext cx="146685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328A63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Progress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509133-EF83-44DE-BD33-4F26AC40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181350"/>
            <a:ext cx="146685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2686A5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QuizAttempt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DCCF01-E525-4FA6-986D-7CB0F8C2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724400"/>
            <a:ext cx="146685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67B25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XPLog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1A3B3E-20AA-45BB-AB9F-AB0E59BB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724400"/>
            <a:ext cx="146685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67B25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Reward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B4B724-18D2-4346-9332-38225C95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24400"/>
            <a:ext cx="146685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2686A5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Feedback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8CE0A4-595A-47B8-97E8-04722170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047875"/>
            <a:ext cx="1152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AE"/>
          </a:solidFill>
          <a:ln xmlns:a="http://schemas.openxmlformats.org/drawingml/2006/main" w="0">
            <a:solidFill>
              <a:srgbClr val="006AA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402DC4-95DA-4006-B14E-2A1E0EB7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047875"/>
            <a:ext cx="1152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6A4"/>
          </a:solidFill>
          <a:ln xmlns:a="http://schemas.openxmlformats.org/drawingml/2006/main" w="0">
            <a:solidFill>
              <a:srgbClr val="7156A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4A6CB0-BBDC-4326-9185-065CEE02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657600"/>
            <a:ext cx="19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7B25"/>
          </a:solidFill>
          <a:ln xmlns:a="http://schemas.openxmlformats.org/drawingml/2006/main" w="0">
            <a:solidFill>
              <a:srgbClr val="D67B2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0A12BF-1AC3-4FD4-92B5-6C734255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57600"/>
            <a:ext cx="19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8A63"/>
          </a:solidFill>
          <a:ln xmlns:a="http://schemas.openxmlformats.org/drawingml/2006/main" w="0">
            <a:solidFill>
              <a:srgbClr val="328A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959CB8-43CC-420F-9543-854C50DC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57600"/>
            <a:ext cx="19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86A5"/>
          </a:solidFill>
          <a:ln xmlns:a="http://schemas.openxmlformats.org/drawingml/2006/main" w="0">
            <a:solidFill>
              <a:srgbClr val="2686A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C13C8B-94EF-43CB-9A50-A01FD135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705100"/>
            <a:ext cx="657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8"/>
          </a:solidFill>
          <a:ln xmlns:a="http://schemas.openxmlformats.org/drawingml/2006/main" w="0">
            <a:solidFill>
              <a:srgbClr val="CAD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5EE8DE-DA92-490B-83AD-EF66B3FE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70510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8"/>
          </a:solidFill>
          <a:ln xmlns:a="http://schemas.openxmlformats.org/drawingml/2006/main" w="0">
            <a:solidFill>
              <a:srgbClr val="CAD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35E3B6-0EF7-42FB-AB21-3762192A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70510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8"/>
          </a:solidFill>
          <a:ln xmlns:a="http://schemas.openxmlformats.org/drawingml/2006/main" w="0">
            <a:solidFill>
              <a:srgbClr val="CAD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F6ABE8-E0F4-4BA5-9201-4DD4C290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0510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8"/>
          </a:solidFill>
          <a:ln xmlns:a="http://schemas.openxmlformats.org/drawingml/2006/main" w="0">
            <a:solidFill>
              <a:srgbClr val="CAD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9AD69C-AE54-43A9-B875-DDC0FF2F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62150"/>
            <a:ext cx="1638300" cy="22098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B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C6F431-0CF2-4870-97E2-6B870F1C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62150"/>
            <a:ext cx="47625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AE"/>
          </a:solidFill>
          <a:ln xmlns:a="http://schemas.openxmlformats.org/drawingml/2006/main" w="0">
            <a:solidFill>
              <a:srgbClr val="006AA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E6D073-A5AA-45EA-96CE-A1ED30B0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13360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6AAE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06AAE"/>
                </a:solidFill>
                <a:latin typeface="Calibri"/>
                <a:ea typeface="Calibri"/>
                <a:cs typeface="Calibri"/>
              </a:rPr>
              <a:t>Хранилище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014CBE-7A2C-4538-BB87-60CB8443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476500"/>
            <a:ext cx="12763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единый снимок состояния LMS</a:t>
            </a:r>
          </a:p>
          <a:p xmlns:a="http://schemas.openxmlformats.org/drawingml/2006/main">
            <a:pPr algn="l">
              <a:buNone/>
              <a:defRPr sz="1013" b="0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нормализация старых версий</a:t>
            </a:r>
          </a:p>
          <a:p xmlns:a="http://schemas.openxmlformats.org/drawingml/2006/main">
            <a:pPr algn="l">
              <a:buNone/>
              <a:defRPr sz="1013" b="0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серверная синхронизация</a:t>
            </a:r>
          </a:p>
        </p:txBody>
      </p:sp>
    </p:spTree>
    <p:extLst>
      <p:ext uri="{BB962C8B-B14F-4D97-AF65-F5344CB8AC3E}">
        <p14:creationId xmlns:p14="http://schemas.microsoft.com/office/powerpoint/2010/main" val="134588485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390794-6E35-408D-ABF8-FAF1F835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0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E03A85-B000-4092-8A78-F9A340C1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4E97C4-E311-46E4-8D08-F89B32D3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47A2F1-254B-4C1B-A7EE-6ACF6307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286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D999BC-B736-4DB3-A0AE-3A19F908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5905500"/>
            <a:ext cx="209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5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ДИАГРАММЫ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843C05-4B81-4FFF-9C86-75840B50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3627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DBFC1"/>
          </a:solidFill>
          <a:ln xmlns:a="http://schemas.openxmlformats.org/drawingml/2006/main" w="0">
            <a:solidFill>
              <a:srgbClr val="BDBF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EF20A6-407B-476C-82AC-F3FA3EF4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942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Диаграммы проектирования закрывают нотации, указанные в требованиях к дипломному проекту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5F654A-F81A-4319-913B-07490807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23950"/>
            <a:ext cx="895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86E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5F686E"/>
                </a:solidFill>
                <a:latin typeface="Calibri"/>
                <a:ea typeface="Calibri"/>
                <a:cs typeface="Calibri"/>
              </a:rPr>
              <a:t>На слайде показан набор для модуля CMS; полный комплект диаграмм подготовлен для всех пяти модулей.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15AC6A-3DC1-43E3-B373-7C71166D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316230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C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58A668-FAA7-442F-A742-B39D9F07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95450"/>
            <a:ext cx="2895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06AAE"/>
                </a:solidFill>
                <a:latin typeface="Calibri"/>
                <a:ea typeface="Calibri"/>
                <a:cs typeface="Calibri"/>
              </a:defRPr>
            </a:pPr>
            <a:r>
              <a:rPr sz="1088" b="1">
                <a:solidFill>
                  <a:srgbClr val="006AAE"/>
                </a:solidFill>
                <a:latin typeface="Calibri"/>
                <a:ea typeface="Calibri"/>
                <a:cs typeface="Calibri"/>
              </a:rPr>
              <a:t>BPMN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97E896-7DFB-48C2-BA4A-B99D2EA5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0500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5F686E"/>
                </a:solidFill>
                <a:latin typeface="Calibri"/>
                <a:ea typeface="Calibri"/>
                <a:cs typeface="Calibri"/>
              </a:defRPr>
            </a:pPr>
            <a:r>
              <a:rPr sz="728" b="0">
                <a:solidFill>
                  <a:srgbClr val="5F686E"/>
                </a:solidFill>
                <a:latin typeface="Calibri"/>
                <a:ea typeface="Calibri"/>
                <a:cs typeface="Calibri"/>
              </a:rPr>
              <a:t>бизнес-процесс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68262948904434"/>
          <a:stretch xmlns:a="http://schemas.openxmlformats.org/drawingml/2006/main"/>
        </p:blipFill>
        <p:spPr>
          <a:xfrm xmlns:a="http://schemas.openxmlformats.org/drawingml/2006/main">
            <a:off x="1533111" y="2133600"/>
            <a:ext cx="1848678" cy="11811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5FC030-33AB-4DC2-BA50-DC93557B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581150"/>
            <a:ext cx="316230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C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217B22-E5C0-4525-BE83-A193B03A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95450"/>
            <a:ext cx="2895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328A63"/>
                </a:solidFill>
                <a:latin typeface="Calibri"/>
                <a:ea typeface="Calibri"/>
                <a:cs typeface="Calibri"/>
              </a:defRPr>
            </a:pPr>
            <a:r>
              <a:rPr sz="1088" b="1">
                <a:solidFill>
                  <a:srgbClr val="328A63"/>
                </a:solidFill>
                <a:latin typeface="Calibri"/>
                <a:ea typeface="Calibri"/>
                <a:cs typeface="Calibri"/>
              </a:rPr>
              <a:t>DFD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3A4EFC-6B96-40A9-A37E-D3C7F41C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0500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5F686E"/>
                </a:solidFill>
                <a:latin typeface="Calibri"/>
                <a:ea typeface="Calibri"/>
                <a:cs typeface="Calibri"/>
              </a:defRPr>
            </a:pPr>
            <a:r>
              <a:rPr sz="728" b="0">
                <a:solidFill>
                  <a:srgbClr val="5F686E"/>
                </a:solidFill>
                <a:latin typeface="Calibri"/>
                <a:ea typeface="Calibri"/>
                <a:cs typeface="Calibri"/>
              </a:rPr>
              <a:t>потоки данных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7664f00d1c4bea"/>
          <a:stretch xmlns:a="http://schemas.openxmlformats.org/drawingml/2006/main"/>
        </p:blipFill>
        <p:spPr>
          <a:xfrm xmlns:a="http://schemas.openxmlformats.org/drawingml/2006/main">
            <a:off x="5095461" y="2133600"/>
            <a:ext cx="1848678" cy="11811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D5711D-5A7F-4957-AA8F-080BB625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81150"/>
            <a:ext cx="316230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C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FEC7A2-094E-4B67-A220-17372DC3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95450"/>
            <a:ext cx="2895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D67B25"/>
                </a:solidFill>
                <a:latin typeface="Calibri"/>
                <a:ea typeface="Calibri"/>
                <a:cs typeface="Calibri"/>
              </a:defRPr>
            </a:pPr>
            <a:r>
              <a:rPr sz="1088" b="1">
                <a:solidFill>
                  <a:srgbClr val="D67B25"/>
                </a:solidFill>
                <a:latin typeface="Calibri"/>
                <a:ea typeface="Calibri"/>
                <a:cs typeface="Calibri"/>
              </a:rPr>
              <a:t>IDEF0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D27949-6181-4139-91F1-6502FF9AB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0500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5F686E"/>
                </a:solidFill>
                <a:latin typeface="Calibri"/>
                <a:ea typeface="Calibri"/>
                <a:cs typeface="Calibri"/>
              </a:defRPr>
            </a:pPr>
            <a:r>
              <a:rPr sz="728" b="0">
                <a:solidFill>
                  <a:srgbClr val="5F686E"/>
                </a:solidFill>
                <a:latin typeface="Calibri"/>
                <a:ea typeface="Calibri"/>
                <a:cs typeface="Calibri"/>
              </a:rPr>
              <a:t>функциональная модель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a722a16a7649d8"/>
          <a:stretch xmlns:a="http://schemas.openxmlformats.org/drawingml/2006/main"/>
        </p:blipFill>
        <p:spPr>
          <a:xfrm xmlns:a="http://schemas.openxmlformats.org/drawingml/2006/main">
            <a:off x="8657811" y="2133600"/>
            <a:ext cx="1848678" cy="11811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DACD5F-B73E-4604-BF66-D5FF9238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316230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C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2D7228-8A43-4B75-A4F2-564D2FB7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2895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7156A4"/>
                </a:solidFill>
                <a:latin typeface="Calibri"/>
                <a:ea typeface="Calibri"/>
                <a:cs typeface="Calibri"/>
              </a:defRPr>
            </a:pPr>
            <a:r>
              <a:rPr sz="1088" b="1">
                <a:solidFill>
                  <a:srgbClr val="7156A4"/>
                </a:solidFill>
                <a:latin typeface="Calibri"/>
                <a:ea typeface="Calibri"/>
                <a:cs typeface="Calibri"/>
              </a:rPr>
              <a:t>UML Activity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7F82DC-DABB-43FB-8E3D-3CEE4D4E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5765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5F686E"/>
                </a:solidFill>
                <a:latin typeface="Calibri"/>
                <a:ea typeface="Calibri"/>
                <a:cs typeface="Calibri"/>
              </a:defRPr>
            </a:pPr>
            <a:r>
              <a:rPr sz="728" b="0">
                <a:solidFill>
                  <a:srgbClr val="5F686E"/>
                </a:solidFill>
                <a:latin typeface="Calibri"/>
                <a:ea typeface="Calibri"/>
                <a:cs typeface="Calibri"/>
              </a:rPr>
              <a:t>алгоритм сценария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2a1f91d99045f9"/>
          <a:stretch xmlns:a="http://schemas.openxmlformats.org/drawingml/2006/main"/>
        </p:blipFill>
        <p:spPr>
          <a:xfrm xmlns:a="http://schemas.openxmlformats.org/drawingml/2006/main">
            <a:off x="1533111" y="4286250"/>
            <a:ext cx="1848678" cy="11811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338697-BDEB-4F5A-AC1A-D56DB58A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33800"/>
            <a:ext cx="316230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C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727CC1-52D8-47AF-AEF5-3DBCC1A4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48100"/>
            <a:ext cx="2895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686A5"/>
                </a:solidFill>
                <a:latin typeface="Calibri"/>
                <a:ea typeface="Calibri"/>
                <a:cs typeface="Calibri"/>
              </a:defRPr>
            </a:pPr>
            <a:r>
              <a:rPr sz="1088" b="1">
                <a:solidFill>
                  <a:srgbClr val="2686A5"/>
                </a:solidFill>
                <a:latin typeface="Calibri"/>
                <a:ea typeface="Calibri"/>
                <a:cs typeface="Calibri"/>
              </a:rPr>
              <a:t>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16FB88-94A0-4B9F-9615-34CC4903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5765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5F686E"/>
                </a:solidFill>
                <a:latin typeface="Calibri"/>
                <a:ea typeface="Calibri"/>
                <a:cs typeface="Calibri"/>
              </a:defRPr>
            </a:pPr>
            <a:r>
              <a:rPr sz="728" b="0">
                <a:solidFill>
                  <a:srgbClr val="5F686E"/>
                </a:solidFill>
                <a:latin typeface="Calibri"/>
                <a:ea typeface="Calibri"/>
                <a:cs typeface="Calibri"/>
              </a:rPr>
              <a:t>структура данных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6f871cd17b4801"/>
          <a:stretch xmlns:a="http://schemas.openxmlformats.org/drawingml/2006/main"/>
        </p:blipFill>
        <p:spPr>
          <a:xfrm xmlns:a="http://schemas.openxmlformats.org/drawingml/2006/main">
            <a:off x="5095461" y="4286250"/>
            <a:ext cx="1848678" cy="118110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60675D-AE64-43B4-97FD-4B465AAB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33800"/>
            <a:ext cx="316230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CE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150FFD-9290-488F-9B9F-06447B67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48100"/>
            <a:ext cx="2895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B85A5A"/>
                </a:solidFill>
                <a:latin typeface="Calibri"/>
                <a:ea typeface="Calibri"/>
                <a:cs typeface="Calibri"/>
              </a:defRPr>
            </a:pPr>
            <a:r>
              <a:rPr sz="1088" b="1">
                <a:solidFill>
                  <a:srgbClr val="B85A5A"/>
                </a:solidFill>
                <a:latin typeface="Calibri"/>
                <a:ea typeface="Calibri"/>
                <a:cs typeface="Calibri"/>
              </a:rPr>
              <a:t>UML Package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252B64-70F9-43B0-8DCC-E17FB3C3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5765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5F686E"/>
                </a:solidFill>
                <a:latin typeface="Calibri"/>
                <a:ea typeface="Calibri"/>
                <a:cs typeface="Calibri"/>
              </a:defRPr>
            </a:pPr>
            <a:r>
              <a:rPr sz="728" b="0">
                <a:solidFill>
                  <a:srgbClr val="5F686E"/>
                </a:solidFill>
                <a:latin typeface="Calibri"/>
                <a:ea typeface="Calibri"/>
                <a:cs typeface="Calibri"/>
              </a:rPr>
              <a:t>модульная архитектура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f4b39ac95141fa"/>
          <a:stretch xmlns:a="http://schemas.openxmlformats.org/drawingml/2006/main"/>
        </p:blipFill>
        <p:spPr>
          <a:xfrm xmlns:a="http://schemas.openxmlformats.org/drawingml/2006/main">
            <a:off x="8657811" y="4286250"/>
            <a:ext cx="1848678" cy="1181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64349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25030B-E367-4A64-9969-0DD4E4AB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0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3C257C-5594-44D2-A7B7-2FA00CF4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33D26D-6353-48DF-8D4D-FD038091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F40D0E-9715-400F-A294-3AB911DD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286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1B8248-2FCC-4D6F-B3E6-1B2D5930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019800"/>
            <a:ext cx="209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5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5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МОДУЛЬ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063F02-3C64-43D3-B452-B7607CF3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3627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DBFC1"/>
          </a:solidFill>
          <a:ln xmlns:a="http://schemas.openxmlformats.org/drawingml/2006/main" w="0">
            <a:solidFill>
              <a:srgbClr val="BDBF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4BFA99-A054-4A0D-845A-D251EBD4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914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CMS-модуль превращает материалы в управляемый жизненный цикл курса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035787-FFC8-4C61-AC0E-6EA44EE8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6205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86E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5F686E"/>
                </a:solidFill>
                <a:latin typeface="Calibri"/>
                <a:ea typeface="Calibri"/>
                <a:cs typeface="Calibri"/>
              </a:rPr>
              <a:t>Создание, публикация, тесты, библиотека знаний и назначение обучения с дедлайном.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21B603-F8CA-44FF-A3E9-947E69B4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66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10478">
            <a:solidFill>
              <a:srgbClr val="006AAE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6AAE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006AAE"/>
                </a:solidFill>
                <a:latin typeface="Calibri"/>
                <a:ea typeface="Calibri"/>
                <a:cs typeface="Calibri"/>
              </a:rPr>
              <a:t>МОДУЛЬ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DD5A31-E377-4865-8505-484F4CE5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6002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Управление учебным контентом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0F69FE-8971-4CE5-8C1E-B371BB26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38300"/>
            <a:ext cx="4781550" cy="34480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DC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546B44-9521-470A-B0EF-2AED70A9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38300"/>
            <a:ext cx="47815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11430">
            <a:solidFill>
              <a:srgbClr val="D4DC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C5581F-D77B-4D40-92A1-528A0B81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CDD2"/>
          </a:solidFill>
          <a:ln xmlns:a="http://schemas.openxmlformats.org/drawingml/2006/main" w="0">
            <a:solidFill>
              <a:srgbClr val="C7CD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0792AD-DA86-405B-9B99-CD98F0BC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145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CDD2"/>
          </a:solidFill>
          <a:ln xmlns:a="http://schemas.openxmlformats.org/drawingml/2006/main" w="0">
            <a:solidFill>
              <a:srgbClr val="C7CD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B93C0F-69B3-4C9F-8410-F3EC13EB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145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CDD2"/>
          </a:solidFill>
          <a:ln xmlns:a="http://schemas.openxmlformats.org/drawingml/2006/main" w="0">
            <a:solidFill>
              <a:srgbClr val="C7CDD2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2deef4706c438c"/>
          <a:stretch xmlns:a="http://schemas.openxmlformats.org/drawingml/2006/main"/>
        </p:blipFill>
        <p:spPr>
          <a:xfrm xmlns:a="http://schemas.openxmlformats.org/drawingml/2006/main">
            <a:off x="6480489" y="1885950"/>
            <a:ext cx="3936372" cy="31432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4922EE-B81B-492F-826A-8EA7264A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62550"/>
            <a:ext cx="466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006AAE"/>
                </a:solidFill>
                <a:latin typeface="Calibri"/>
                <a:ea typeface="Calibri"/>
                <a:cs typeface="Calibri"/>
              </a:defRPr>
            </a:pPr>
            <a:r>
              <a:rPr sz="863" b="1">
                <a:solidFill>
                  <a:srgbClr val="006AAE"/>
                </a:solidFill>
                <a:latin typeface="Calibri"/>
                <a:ea typeface="Calibri"/>
                <a:cs typeface="Calibri"/>
              </a:rPr>
              <a:t>Каталог курсов и панель назначения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AA47E2-0E99-4CF2-9219-EC8A2935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33625"/>
            <a:ext cx="66675" cy="666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06AAE"/>
          </a:solidFill>
          <a:ln xmlns:a="http://schemas.openxmlformats.org/drawingml/2006/main" w="0">
            <a:solidFill>
              <a:srgbClr val="006AA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4C875D-D14A-48F2-A700-84E7F87F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66950"/>
            <a:ext cx="409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создание и публикация курсов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AF202D-AB99-45C0-8E4A-82D9927E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47975"/>
            <a:ext cx="66675" cy="666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06AAE"/>
          </a:solidFill>
          <a:ln xmlns:a="http://schemas.openxmlformats.org/drawingml/2006/main" w="0">
            <a:solidFill>
              <a:srgbClr val="006A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977CC2-A000-40BA-9CE7-50DAC946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81300"/>
            <a:ext cx="409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уроки, тесты и библиотека знаний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80B39A-572A-4641-ADDA-26E11B3C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62325"/>
            <a:ext cx="66675" cy="666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06AAE"/>
          </a:solidFill>
          <a:ln xmlns:a="http://schemas.openxmlformats.org/drawingml/2006/main" w="0">
            <a:solidFill>
              <a:srgbClr val="006AA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415C80-7F89-4246-B757-1C07B3F6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95650"/>
            <a:ext cx="409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конструктор тестов для автора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466EE4-046B-4AF8-BF8D-6F3F67E6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76675"/>
            <a:ext cx="66675" cy="666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06AAE"/>
          </a:solidFill>
          <a:ln xmlns:a="http://schemas.openxmlformats.org/drawingml/2006/main" w="0">
            <a:solidFill>
              <a:srgbClr val="006AA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87062E-38B4-4C2D-A18D-18895CEF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10000"/>
            <a:ext cx="409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назначение курса с самостоятельным сроком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B34EB3-D1D8-4796-868D-DD43CBA1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876300" cy="4191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006AAE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курс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C7F162-21A9-426E-8B48-22F39104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019675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AE"/>
          </a:solidFill>
          <a:ln xmlns:a="http://schemas.openxmlformats.org/drawingml/2006/main" w="0">
            <a:solidFill>
              <a:srgbClr val="006AA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2E36C0-7E1C-4312-95E3-1C3CA4DF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819650"/>
            <a:ext cx="876300" cy="4191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006AAE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уроки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A74E17-1267-4C92-90F8-4E4B7104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019675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AE"/>
          </a:solidFill>
          <a:ln xmlns:a="http://schemas.openxmlformats.org/drawingml/2006/main" w="0">
            <a:solidFill>
              <a:srgbClr val="006AA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4BCECA-EB6C-4EA5-9110-D9FCC8CB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819650"/>
            <a:ext cx="876300" cy="4191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006AAE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тест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222F73-94CD-4672-BBAE-0C951158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019675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AE"/>
          </a:solidFill>
          <a:ln xmlns:a="http://schemas.openxmlformats.org/drawingml/2006/main" w="0">
            <a:solidFill>
              <a:srgbClr val="006AA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5FE63F-643D-4C9E-A96B-F7D3868C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19650"/>
            <a:ext cx="876300" cy="4191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006AAE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дедлайн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D1CD4C-3A47-40AF-8F54-11B0584A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1020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90" b="1">
                <a:solidFill>
                  <a:srgbClr val="006AAE"/>
                </a:solidFill>
                <a:latin typeface="Calibri"/>
                <a:ea typeface="Calibri"/>
                <a:cs typeface="Calibri"/>
              </a:defRPr>
            </a:pPr>
            <a:r>
              <a:rPr sz="990" b="1">
                <a:solidFill>
                  <a:srgbClr val="006AAE"/>
                </a:solidFill>
                <a:latin typeface="Calibri"/>
                <a:ea typeface="Calibri"/>
                <a:cs typeface="Calibri"/>
              </a:rPr>
              <a:t>Результат: автор и HR управляют контентом без ручных таблиц.</a:t>
            </a:r>
          </a:p>
        </p:txBody>
      </p:sp>
    </p:spTree>
    <p:extLst>
      <p:ext uri="{BB962C8B-B14F-4D97-AF65-F5344CB8AC3E}">
        <p14:creationId xmlns:p14="http://schemas.microsoft.com/office/powerpoint/2010/main" val="14970811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9D6F45-6FB1-4C29-9636-EB2D8275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0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D46EA0-64A7-468F-99E5-35CB70D2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3C2F29-FBB9-40CC-BD69-C7420D8F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7B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4AF3A5-93FA-4794-B6B9-A8C459E0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286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C7903-BEA3-470E-84F6-5D65240E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019800"/>
            <a:ext cx="209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5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5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МОДУЛЬ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EEC13A-6A1D-480A-A2D6-DCF8DFDC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3627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DBFC1"/>
          </a:solidFill>
          <a:ln xmlns:a="http://schemas.openxmlformats.org/drawingml/2006/main" w="0">
            <a:solidFill>
              <a:srgbClr val="BDBF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1B7B4F-748E-4E41-8214-D9E5501B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914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Геймификация делает прогресс видимым и поддерживает мотивацию сотрудника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06F78-0BDB-4AFC-888A-94815C17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6205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86E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5F686E"/>
                </a:solidFill>
                <a:latin typeface="Calibri"/>
                <a:ea typeface="Calibri"/>
                <a:cs typeface="Calibri"/>
              </a:rPr>
              <a:t>XP, уровни, бейджи, рейтинги и магазин поощрений работают как единая мотивационная механика.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A2E44C-64D3-4A9E-A644-3C75F9D9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66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0E4"/>
          </a:solidFill>
          <a:ln xmlns:a="http://schemas.openxmlformats.org/drawingml/2006/main" w="10478">
            <a:solidFill>
              <a:srgbClr val="D67B25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D67B25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D67B25"/>
                </a:solidFill>
                <a:latin typeface="Calibri"/>
                <a:ea typeface="Calibri"/>
                <a:cs typeface="Calibri"/>
              </a:rPr>
              <a:t>МОДУЛЬ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D6DEB9-E974-4B1D-9DBE-25851D62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6002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Геймификация обучения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D705B4-2551-4A37-B3DE-5460733D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38300"/>
            <a:ext cx="4781550" cy="34480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DC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602477-F602-4CB7-A728-61878B04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38300"/>
            <a:ext cx="47815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11430">
            <a:solidFill>
              <a:srgbClr val="D4DC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1F74C1-68F7-4A02-A424-9B435F1D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CDD2"/>
          </a:solidFill>
          <a:ln xmlns:a="http://schemas.openxmlformats.org/drawingml/2006/main" w="0">
            <a:solidFill>
              <a:srgbClr val="C7CD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587CE6-B72F-4F1B-BADA-77CCE04E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145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CDD2"/>
          </a:solidFill>
          <a:ln xmlns:a="http://schemas.openxmlformats.org/drawingml/2006/main" w="0">
            <a:solidFill>
              <a:srgbClr val="C7CD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FA2CA6-498C-413F-A6C1-479DA3EE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145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CDD2"/>
          </a:solidFill>
          <a:ln xmlns:a="http://schemas.openxmlformats.org/drawingml/2006/main" w="0">
            <a:solidFill>
              <a:srgbClr val="C7CDD2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5a293d80a042f9"/>
          <a:stretch xmlns:a="http://schemas.openxmlformats.org/drawingml/2006/main"/>
        </p:blipFill>
        <p:spPr>
          <a:xfrm xmlns:a="http://schemas.openxmlformats.org/drawingml/2006/main">
            <a:off x="6427492" y="1885950"/>
            <a:ext cx="4042366" cy="31432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E23D39-3BB1-4086-AED0-944AECF0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62550"/>
            <a:ext cx="466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D67B25"/>
                </a:solidFill>
                <a:latin typeface="Calibri"/>
                <a:ea typeface="Calibri"/>
                <a:cs typeface="Calibri"/>
              </a:defRPr>
            </a:pPr>
            <a:r>
              <a:rPr sz="863" b="1">
                <a:solidFill>
                  <a:srgbClr val="D67B25"/>
                </a:solidFill>
                <a:latin typeface="Calibri"/>
                <a:ea typeface="Calibri"/>
                <a:cs typeface="Calibri"/>
              </a:rPr>
              <a:t>XP, достижения, рейтинг и магазин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11751B-25A3-453A-81AF-38C987FE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33625"/>
            <a:ext cx="66675" cy="666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67B25"/>
          </a:solidFill>
          <a:ln xmlns:a="http://schemas.openxmlformats.org/drawingml/2006/main" w="0">
            <a:solidFill>
              <a:srgbClr val="D67B2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3B3194-46AF-46E9-89D2-CD6B9FCC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66950"/>
            <a:ext cx="409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начисление XP за действия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A82DA5-671F-4A12-ACA1-15D49AFD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47975"/>
            <a:ext cx="66675" cy="666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67B25"/>
          </a:solidFill>
          <a:ln xmlns:a="http://schemas.openxmlformats.org/drawingml/2006/main" w="0">
            <a:solidFill>
              <a:srgbClr val="D67B2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1C0915-6EF1-4CDC-B86A-398EC577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81300"/>
            <a:ext cx="409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уровни и бейджи за достижения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4C3D10-75BD-4DA9-8371-0DC31E8F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62325"/>
            <a:ext cx="66675" cy="666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67B25"/>
          </a:solidFill>
          <a:ln xmlns:a="http://schemas.openxmlformats.org/drawingml/2006/main" w="0">
            <a:solidFill>
              <a:srgbClr val="D67B2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558106-5FED-41E6-BE33-EDF504E2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95650"/>
            <a:ext cx="409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лидерборды сотрудников и отделов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ADC009-4CE6-4A54-8D29-9A42D9C6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76675"/>
            <a:ext cx="66675" cy="666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67B25"/>
          </a:solidFill>
          <a:ln xmlns:a="http://schemas.openxmlformats.org/drawingml/2006/main" w="0">
            <a:solidFill>
              <a:srgbClr val="D67B2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5E9A2A-C64A-4AC4-8056-3E63EB7F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10000"/>
            <a:ext cx="409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Reward Store для обмена баллов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1369EC-C26E-4BD0-948A-CC8739D9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876300" cy="4191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67B25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XP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3F0A83-4738-4A0D-8DA9-535360A9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019675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7B25"/>
          </a:solidFill>
          <a:ln xmlns:a="http://schemas.openxmlformats.org/drawingml/2006/main" w="0">
            <a:solidFill>
              <a:srgbClr val="D67B2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6E95B5-0DAA-4EF9-AD7A-1CF81F51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819650"/>
            <a:ext cx="876300" cy="4191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67B25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уровень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435C65-E716-4A3F-85A1-C2F2D927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019675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7B25"/>
          </a:solidFill>
          <a:ln xmlns:a="http://schemas.openxmlformats.org/drawingml/2006/main" w="0">
            <a:solidFill>
              <a:srgbClr val="D67B2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4105FE-5F35-4B3D-9EA3-D53DB308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819650"/>
            <a:ext cx="876300" cy="4191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67B25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бейдж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CF96D6-EAC7-44CA-AF06-E15F14EC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019675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7B25"/>
          </a:solidFill>
          <a:ln xmlns:a="http://schemas.openxmlformats.org/drawingml/2006/main" w="0">
            <a:solidFill>
              <a:srgbClr val="D67B2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6668D8-80F7-4E22-B168-5C5BBAA5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19650"/>
            <a:ext cx="876300" cy="4191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67B25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награда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5B5961-88E9-49AF-AED2-39553F2E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1020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90" b="1">
                <a:solidFill>
                  <a:srgbClr val="D67B25"/>
                </a:solidFill>
                <a:latin typeface="Calibri"/>
                <a:ea typeface="Calibri"/>
                <a:cs typeface="Calibri"/>
              </a:defRPr>
            </a:pPr>
            <a:r>
              <a:rPr sz="990" b="1">
                <a:solidFill>
                  <a:srgbClr val="D67B25"/>
                </a:solidFill>
                <a:latin typeface="Calibri"/>
                <a:ea typeface="Calibri"/>
                <a:cs typeface="Calibri"/>
              </a:rPr>
              <a:t>Результат: обучение получает понятную игровую обратную связь.</a:t>
            </a:r>
          </a:p>
        </p:txBody>
      </p:sp>
    </p:spTree>
    <p:extLst>
      <p:ext uri="{BB962C8B-B14F-4D97-AF65-F5344CB8AC3E}">
        <p14:creationId xmlns:p14="http://schemas.microsoft.com/office/powerpoint/2010/main" val="205679341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3BE5C9-358A-4C1E-BE3D-2AD5150F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0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3820B1-8C99-4E3D-8DC2-28C429F6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FC3EE0-4046-40D8-BAD9-2FAE0E61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8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EF9604-C6AB-46CD-94EB-6B66D711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286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62D7EB-7120-4C5D-B6D4-D2A8541B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019800"/>
            <a:ext cx="209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5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5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МОДУЛЬ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62D5C2-4F61-4B3C-9407-5A053127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3627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DBFC1"/>
          </a:solidFill>
          <a:ln xmlns:a="http://schemas.openxmlformats.org/drawingml/2006/main" w="0">
            <a:solidFill>
              <a:srgbClr val="BDBF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AFE52F-4785-441D-8B64-F2187804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914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Личный кабинет показывает сотруднику маршрут развития, сроки и личный результат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776748-11AB-4C02-A23C-8767DF6E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6205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86E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5F686E"/>
                </a:solidFill>
                <a:latin typeface="Calibri"/>
                <a:ea typeface="Calibri"/>
                <a:cs typeface="Calibri"/>
              </a:rPr>
              <a:t>Профиль соединяет план обучения, прогресс, историю, уведомления и награды.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C69DF2-5F4E-4660-B409-73A0A743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66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6F0"/>
          </a:solidFill>
          <a:ln xmlns:a="http://schemas.openxmlformats.org/drawingml/2006/main" w="10478">
            <a:solidFill>
              <a:srgbClr val="328A6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328A63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328A63"/>
                </a:solidFill>
                <a:latin typeface="Calibri"/>
                <a:ea typeface="Calibri"/>
                <a:cs typeface="Calibri"/>
              </a:rPr>
              <a:t>МОДУЛЬ 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30FF45-F687-408C-A9DC-6BA1120D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6002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Личный кабинет сотрудника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A80933-4700-4537-A69B-5FF32E19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38300"/>
            <a:ext cx="4781550" cy="34480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DC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642DA5-4563-4833-822B-0206EB2A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38300"/>
            <a:ext cx="47815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11430">
            <a:solidFill>
              <a:srgbClr val="D4DC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5C88C0-1F94-47C6-BA0B-190AD688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CDD2"/>
          </a:solidFill>
          <a:ln xmlns:a="http://schemas.openxmlformats.org/drawingml/2006/main" w="0">
            <a:solidFill>
              <a:srgbClr val="C7CD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20098A-1F02-4B6D-99C3-656C7186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145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CDD2"/>
          </a:solidFill>
          <a:ln xmlns:a="http://schemas.openxmlformats.org/drawingml/2006/main" w="0">
            <a:solidFill>
              <a:srgbClr val="C7CD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CA7527-6515-4069-B466-EDB0CF71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145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CDD2"/>
          </a:solidFill>
          <a:ln xmlns:a="http://schemas.openxmlformats.org/drawingml/2006/main" w="0">
            <a:solidFill>
              <a:srgbClr val="C7CDD2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0159b78a434c48"/>
          <a:stretch xmlns:a="http://schemas.openxmlformats.org/drawingml/2006/main"/>
        </p:blipFill>
        <p:spPr>
          <a:xfrm xmlns:a="http://schemas.openxmlformats.org/drawingml/2006/main">
            <a:off x="6531658" y="1885950"/>
            <a:ext cx="3834034" cy="31432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C24B21-1457-4088-9AEE-679E5E0B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62550"/>
            <a:ext cx="466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328A63"/>
                </a:solidFill>
                <a:latin typeface="Calibri"/>
                <a:ea typeface="Calibri"/>
                <a:cs typeface="Calibri"/>
              </a:defRPr>
            </a:pPr>
            <a:r>
              <a:rPr sz="863" b="1">
                <a:solidFill>
                  <a:srgbClr val="328A63"/>
                </a:solidFill>
                <a:latin typeface="Calibri"/>
                <a:ea typeface="Calibri"/>
                <a:cs typeface="Calibri"/>
              </a:rPr>
              <a:t>Профиль, личный прогресс и план развития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EA746E-35C8-45DB-A5D4-843B866E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33625"/>
            <a:ext cx="66675" cy="666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28A63"/>
          </a:solidFill>
          <a:ln xmlns:a="http://schemas.openxmlformats.org/drawingml/2006/main" w="0">
            <a:solidFill>
              <a:srgbClr val="328A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A64B77-CEB4-41F2-B6E3-2B26BF0B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66950"/>
            <a:ext cx="409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назначенные курсы и дедлайны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E4C692-EB2A-4AA1-B0A0-AFF381BC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47975"/>
            <a:ext cx="66675" cy="666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28A63"/>
          </a:solidFill>
          <a:ln xmlns:a="http://schemas.openxmlformats.org/drawingml/2006/main" w="0">
            <a:solidFill>
              <a:srgbClr val="328A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69B467-6EB3-4B14-9BDD-6F45673A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81300"/>
            <a:ext cx="409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прогресс-бар и дорожная карта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FAA60A-5191-431E-B7D4-8FFBFDEE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62325"/>
            <a:ext cx="66675" cy="666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28A63"/>
          </a:solidFill>
          <a:ln xmlns:a="http://schemas.openxmlformats.org/drawingml/2006/main" w="0">
            <a:solidFill>
              <a:srgbClr val="328A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3FDD0C-9020-4919-8C63-71C9D112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95650"/>
            <a:ext cx="409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история обучения и XP-журнал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5E6DB3-1F30-4412-8423-7142D6B1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76675"/>
            <a:ext cx="66675" cy="666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28A63"/>
          </a:solidFill>
          <a:ln xmlns:a="http://schemas.openxmlformats.org/drawingml/2006/main" w="0">
            <a:solidFill>
              <a:srgbClr val="328A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C0512E-312C-4A9D-8D7C-288A64E8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10000"/>
            <a:ext cx="409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уведомления о сроках и достижениях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5133C1-BE32-405B-98A7-69FA77A0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876300" cy="4191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328A63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назначено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37F94D-4108-4794-AABC-3B09881A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019675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8A63"/>
          </a:solidFill>
          <a:ln xmlns:a="http://schemas.openxmlformats.org/drawingml/2006/main" w="0">
            <a:solidFill>
              <a:srgbClr val="328A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2BCCC4-1F96-400C-B3EC-D2893BD0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819650"/>
            <a:ext cx="876300" cy="4191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328A63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в работе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6E31CC-AFA8-44C1-9D9F-576A5259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019675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8A63"/>
          </a:solidFill>
          <a:ln xmlns:a="http://schemas.openxmlformats.org/drawingml/2006/main" w="0">
            <a:solidFill>
              <a:srgbClr val="328A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04827B-AB70-4080-8BEB-0F12334D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819650"/>
            <a:ext cx="876300" cy="4191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328A63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тест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A2321F-3A78-4992-A9BF-D9446936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019675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8A63"/>
          </a:solidFill>
          <a:ln xmlns:a="http://schemas.openxmlformats.org/drawingml/2006/main" w="0">
            <a:solidFill>
              <a:srgbClr val="328A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9BC8E2-597A-4E57-BCF0-BEDBA6C7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19650"/>
            <a:ext cx="876300" cy="4191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328A63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награда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E74C99-2A70-4D41-A36B-489B8282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1020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90" b="1">
                <a:solidFill>
                  <a:srgbClr val="328A63"/>
                </a:solidFill>
                <a:latin typeface="Calibri"/>
                <a:ea typeface="Calibri"/>
                <a:cs typeface="Calibri"/>
              </a:defRPr>
            </a:pPr>
            <a:r>
              <a:rPr sz="990" b="1">
                <a:solidFill>
                  <a:srgbClr val="328A63"/>
                </a:solidFill>
                <a:latin typeface="Calibri"/>
                <a:ea typeface="Calibri"/>
                <a:cs typeface="Calibri"/>
              </a:rPr>
              <a:t>Результат: сотрудник видит не список задач, а персональный маршрут.</a:t>
            </a:r>
          </a:p>
        </p:txBody>
      </p:sp>
    </p:spTree>
    <p:extLst>
      <p:ext uri="{BB962C8B-B14F-4D97-AF65-F5344CB8AC3E}">
        <p14:creationId xmlns:p14="http://schemas.microsoft.com/office/powerpoint/2010/main" val="105222568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950E85-2175-4563-B013-B3967013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0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F7B00E-871F-40F8-BF83-DEA02D20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9E33B-4B2E-4686-8C2F-0B1B6E10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6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D57AF6-2A47-4416-9303-B38C725C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286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4CB986-E1E4-4B88-960F-E07C7BD8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019800"/>
            <a:ext cx="209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5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5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АНАЛИТИКА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53D005-8937-48DC-B5E8-D28F073E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3627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DBFC1"/>
          </a:solidFill>
          <a:ln xmlns:a="http://schemas.openxmlformats.org/drawingml/2006/main" w="0">
            <a:solidFill>
              <a:srgbClr val="BDBF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B5CF40-AA4C-4011-AA52-7AE36184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914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HR-аналитика делает обучение управляемым по данным, а не по ощущениям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1AAAAD-5887-4202-B2A9-055FE218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6205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86E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5F686E"/>
                </a:solidFill>
                <a:latin typeface="Calibri"/>
                <a:ea typeface="Calibri"/>
                <a:cs typeface="Calibri"/>
              </a:rPr>
              <a:t>Дашборд показывает прогресс, баллы, вовлечённость, риски и экспортирует данные в CSV.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4E8FCF-817B-43E6-BD1E-541EF475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66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EF8"/>
          </a:solidFill>
          <a:ln xmlns:a="http://schemas.openxmlformats.org/drawingml/2006/main" w="10478">
            <a:solidFill>
              <a:srgbClr val="7156A4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7156A4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7156A4"/>
                </a:solidFill>
                <a:latin typeface="Calibri"/>
                <a:ea typeface="Calibri"/>
                <a:cs typeface="Calibri"/>
              </a:rPr>
              <a:t>МОДУЛЬ 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0E879F-0C4F-4077-9C59-8C84C29C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6002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Аналитика и отчётность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6E93E7-6B0C-4E51-98D0-30924183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38300"/>
            <a:ext cx="4781550" cy="34480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DC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7BF3A8-AC4C-4DEE-A806-7F0C467A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38300"/>
            <a:ext cx="47815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11430">
            <a:solidFill>
              <a:srgbClr val="D4DC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5B8595-EF14-4501-AC24-754A91BF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CDD2"/>
          </a:solidFill>
          <a:ln xmlns:a="http://schemas.openxmlformats.org/drawingml/2006/main" w="0">
            <a:solidFill>
              <a:srgbClr val="C7CD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6A57EE-CABB-40FB-803A-44E9A4E7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145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CDD2"/>
          </a:solidFill>
          <a:ln xmlns:a="http://schemas.openxmlformats.org/drawingml/2006/main" w="0">
            <a:solidFill>
              <a:srgbClr val="C7CD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DF6131-D524-400C-B14E-46D7AC59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145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CDD2"/>
          </a:solidFill>
          <a:ln xmlns:a="http://schemas.openxmlformats.org/drawingml/2006/main" w="0">
            <a:solidFill>
              <a:srgbClr val="C7CDD2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174f7c15f34449"/>
          <a:stretch xmlns:a="http://schemas.openxmlformats.org/drawingml/2006/main"/>
        </p:blipFill>
        <p:spPr>
          <a:xfrm xmlns:a="http://schemas.openxmlformats.org/drawingml/2006/main">
            <a:off x="6531658" y="1885950"/>
            <a:ext cx="3834034" cy="31432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513FC4-321B-4F4F-8F4A-C71A918C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62550"/>
            <a:ext cx="466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7156A4"/>
                </a:solidFill>
                <a:latin typeface="Calibri"/>
                <a:ea typeface="Calibri"/>
                <a:cs typeface="Calibri"/>
              </a:defRPr>
            </a:pPr>
            <a:r>
              <a:rPr sz="863" b="1">
                <a:solidFill>
                  <a:srgbClr val="7156A4"/>
                </a:solidFill>
                <a:latin typeface="Calibri"/>
                <a:ea typeface="Calibri"/>
                <a:cs typeface="Calibri"/>
              </a:rPr>
              <a:t>HR-дашборд и фильтры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3E844F-8E65-4895-B74A-9E2985A7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43150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Прогресс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D11A7C-5476-4AAB-A1DC-151870CB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09825"/>
            <a:ext cx="2381250" cy="952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7DEE3"/>
          </a:solidFill>
          <a:ln xmlns:a="http://schemas.openxmlformats.org/drawingml/2006/main" w="0">
            <a:solidFill>
              <a:srgbClr val="D7DE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20D809-54F3-4668-B148-089B2A2C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09825"/>
            <a:ext cx="1952625" cy="952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28A63"/>
          </a:solidFill>
          <a:ln xmlns:a="http://schemas.openxmlformats.org/drawingml/2006/main" w="0">
            <a:solidFill>
              <a:srgbClr val="328A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ABE693-025D-45FD-8782-A7EA322E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2410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28A63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328A63"/>
                </a:solidFill>
                <a:latin typeface="Calibri"/>
                <a:ea typeface="Calibri"/>
                <a:cs typeface="Calibri"/>
              </a:rPr>
              <a:t>82%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FE95C1-A12F-4C1E-A312-BECC173D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Средний балл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530AD3-6C92-41F7-BB13-CC49FAF0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19425"/>
            <a:ext cx="2381250" cy="952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7DEE3"/>
          </a:solidFill>
          <a:ln xmlns:a="http://schemas.openxmlformats.org/drawingml/2006/main" w="0">
            <a:solidFill>
              <a:srgbClr val="D7DE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F4834D-C49D-4C97-BF6E-3DF5C5D7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19425"/>
            <a:ext cx="1809750" cy="952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6AAE"/>
          </a:solidFill>
          <a:ln xmlns:a="http://schemas.openxmlformats.org/drawingml/2006/main" w="0">
            <a:solidFill>
              <a:srgbClr val="006AA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6630EC-499C-4D17-BF77-1E6429BD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3370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6AAE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06AAE"/>
                </a:solidFill>
                <a:latin typeface="Calibri"/>
                <a:ea typeface="Calibri"/>
                <a:cs typeface="Calibri"/>
              </a:rPr>
              <a:t>76%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5D71FA-C736-41D9-9820-1D3F3F5F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62350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Вовлечённость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0E8860-DB4C-4E14-AF60-208D8505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29025"/>
            <a:ext cx="2381250" cy="952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7DEE3"/>
          </a:solidFill>
          <a:ln xmlns:a="http://schemas.openxmlformats.org/drawingml/2006/main" w="0">
            <a:solidFill>
              <a:srgbClr val="D7DE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146B0E-EA12-4254-9B37-3AF1FAA0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29025"/>
            <a:ext cx="1619250" cy="952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67B25"/>
          </a:solidFill>
          <a:ln xmlns:a="http://schemas.openxmlformats.org/drawingml/2006/main" w="0">
            <a:solidFill>
              <a:srgbClr val="D67B2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7FB57E-C35C-4872-A969-3DE023F4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4330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67B25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D67B25"/>
                </a:solidFill>
                <a:latin typeface="Calibri"/>
                <a:ea typeface="Calibri"/>
                <a:cs typeface="Calibri"/>
              </a:rPr>
              <a:t>68%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38ECAD-425F-4138-9B9A-8A9231CE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71950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Риск просрочки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EE599C-629E-49EF-B6A2-83BE2F17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38625"/>
            <a:ext cx="2381250" cy="952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7DEE3"/>
          </a:solidFill>
          <a:ln xmlns:a="http://schemas.openxmlformats.org/drawingml/2006/main" w="0">
            <a:solidFill>
              <a:srgbClr val="D7DE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E955D0-FB17-46DA-9802-07209893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38625"/>
            <a:ext cx="666750" cy="952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85A5A"/>
          </a:solidFill>
          <a:ln xmlns:a="http://schemas.openxmlformats.org/drawingml/2006/main" w="0">
            <a:solidFill>
              <a:srgbClr val="B85A5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0CD71D-0103-49EE-A8BB-ABDA13F2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15290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85A5A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B85A5A"/>
                </a:solidFill>
                <a:latin typeface="Calibri"/>
                <a:ea typeface="Calibri"/>
                <a:cs typeface="Calibri"/>
              </a:rPr>
              <a:t>28%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1BCA69-1050-44C8-BE74-1CB6A0CC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57800"/>
            <a:ext cx="466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7156A4"/>
                </a:solidFill>
                <a:latin typeface="Calibri"/>
                <a:ea typeface="Calibri"/>
                <a:cs typeface="Calibri"/>
              </a:defRPr>
            </a:pPr>
            <a:r>
              <a:rPr sz="1013" b="1">
                <a:solidFill>
                  <a:srgbClr val="7156A4"/>
                </a:solidFill>
                <a:latin typeface="Calibri"/>
                <a:ea typeface="Calibri"/>
                <a:cs typeface="Calibri"/>
              </a:rPr>
              <a:t>Результат: HR видит зоны риска и может управлять сроками до просрочки.</a:t>
            </a:r>
          </a:p>
        </p:txBody>
      </p:sp>
    </p:spTree>
    <p:extLst>
      <p:ext uri="{BB962C8B-B14F-4D97-AF65-F5344CB8AC3E}">
        <p14:creationId xmlns:p14="http://schemas.microsoft.com/office/powerpoint/2010/main" val="88536265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482F33-9238-46EE-8D39-9323907E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0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1AB3BB-04B0-4424-A75E-5D8480AE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15518A-AA38-4AB8-A46A-BAE75A65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86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6623D-462C-469A-BED4-F1EEB345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286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7D1C4-053C-4DD9-93D7-B56238F9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019800"/>
            <a:ext cx="209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5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5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МОДУЛЬ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5206A-3E2E-4744-9F45-AF25CAFB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3627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DBFC1"/>
          </a:solidFill>
          <a:ln xmlns:a="http://schemas.openxmlformats.org/drawingml/2006/main" w="0">
            <a:solidFill>
              <a:srgbClr val="BDBF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0F8048-CD6A-4423-A380-FC7937B8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914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Обратная связь закрывает цикл обучения: курс → обсуждение → отзыв → улучшение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233E86-40C1-47D1-8EE0-4CDCCC9A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6205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86E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5F686E"/>
                </a:solidFill>
                <a:latin typeface="Calibri"/>
                <a:ea typeface="Calibri"/>
                <a:cs typeface="Calibri"/>
              </a:rPr>
              <a:t>HR и автор видят реакцию сотрудников и могут переходить к курсам прямо из раздела отзывов.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054584-6F70-4135-AB22-9158D189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66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7"/>
          </a:solidFill>
          <a:ln xmlns:a="http://schemas.openxmlformats.org/drawingml/2006/main" w="10478">
            <a:solidFill>
              <a:srgbClr val="2686A5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686A5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2686A5"/>
                </a:solidFill>
                <a:latin typeface="Calibri"/>
                <a:ea typeface="Calibri"/>
                <a:cs typeface="Calibri"/>
              </a:rPr>
              <a:t>МОДУЛЬ 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7C374A-7713-4C52-ABFB-6B6C1ADA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6002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Коммуникации и обратная связь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7E0FB5-51F6-4FE0-935B-5C440B0F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38300"/>
            <a:ext cx="4781550" cy="34480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DC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56CC56-385B-41E2-9662-A1446CFD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38300"/>
            <a:ext cx="47815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11430">
            <a:solidFill>
              <a:srgbClr val="D4DC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340BC9-2261-4ABA-9D3F-FE4F57AF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CDD2"/>
          </a:solidFill>
          <a:ln xmlns:a="http://schemas.openxmlformats.org/drawingml/2006/main" w="0">
            <a:solidFill>
              <a:srgbClr val="C7CD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176AF5-7DC5-427B-9EA9-17706567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145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CDD2"/>
          </a:solidFill>
          <a:ln xmlns:a="http://schemas.openxmlformats.org/drawingml/2006/main" w="0">
            <a:solidFill>
              <a:srgbClr val="C7CD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0F5E94-1421-4A11-96FA-C34CE861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145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CDD2"/>
          </a:solidFill>
          <a:ln xmlns:a="http://schemas.openxmlformats.org/drawingml/2006/main" w="0">
            <a:solidFill>
              <a:srgbClr val="C7CDD2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f6e28078454523"/>
          <a:stretch xmlns:a="http://schemas.openxmlformats.org/drawingml/2006/main"/>
        </p:blipFill>
        <p:spPr>
          <a:xfrm xmlns:a="http://schemas.openxmlformats.org/drawingml/2006/main">
            <a:off x="6427492" y="1885950"/>
            <a:ext cx="4042366" cy="31432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DDD31D-4128-4EB9-ADF5-CDBAEC73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62550"/>
            <a:ext cx="466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2686A5"/>
                </a:solidFill>
                <a:latin typeface="Calibri"/>
                <a:ea typeface="Calibri"/>
                <a:cs typeface="Calibri"/>
              </a:defRPr>
            </a:pPr>
            <a:r>
              <a:rPr sz="863" b="1">
                <a:solidFill>
                  <a:srgbClr val="2686A5"/>
                </a:solidFill>
                <a:latin typeface="Calibri"/>
                <a:ea typeface="Calibri"/>
                <a:cs typeface="Calibri"/>
              </a:rPr>
              <a:t>Отзывы, обсуждения и переходы в курсы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952F9C-F239-4CB8-A346-CD74D443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33625"/>
            <a:ext cx="66675" cy="666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686A5"/>
          </a:solidFill>
          <a:ln xmlns:a="http://schemas.openxmlformats.org/drawingml/2006/main" w="0">
            <a:solidFill>
              <a:srgbClr val="2686A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223153-E756-4A00-8BE2-82BB9370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66950"/>
            <a:ext cx="409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обсуждения внутри курса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441869-17AB-4415-9D49-53685A6E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47975"/>
            <a:ext cx="66675" cy="666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686A5"/>
          </a:solidFill>
          <a:ln xmlns:a="http://schemas.openxmlformats.org/drawingml/2006/main" w="0">
            <a:solidFill>
              <a:srgbClr val="2686A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037146-4F88-4546-9562-1D6208BB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81300"/>
            <a:ext cx="409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оценка удовлетворённости обучением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0CD85E-0A28-41C7-9D97-9EAA3722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62325"/>
            <a:ext cx="66675" cy="666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686A5"/>
          </a:solidFill>
          <a:ln xmlns:a="http://schemas.openxmlformats.org/drawingml/2006/main" w="0">
            <a:solidFill>
              <a:srgbClr val="2686A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FC8271-B2DC-4162-853D-E30C3CBD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95650"/>
            <a:ext cx="409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сохранение отзывов и истории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7BBB49-E289-4F90-8179-BC905B1B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76675"/>
            <a:ext cx="66675" cy="666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686A5"/>
          </a:solidFill>
          <a:ln xmlns:a="http://schemas.openxmlformats.org/drawingml/2006/main" w="0">
            <a:solidFill>
              <a:srgbClr val="2686A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6B933E-237A-4615-B5F8-FAFD61B4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10000"/>
            <a:ext cx="409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кликабельные переходы к карточкам курсов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56B419-450B-4FAA-A292-6648D96B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876300" cy="4191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2686A5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курс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CAACA0-876E-4B19-B4CA-ED02E3AB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019675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86A5"/>
          </a:solidFill>
          <a:ln xmlns:a="http://schemas.openxmlformats.org/drawingml/2006/main" w="0">
            <a:solidFill>
              <a:srgbClr val="2686A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C6204F-CA77-4B91-BCF3-A7C1764E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819650"/>
            <a:ext cx="876300" cy="4191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2686A5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обсуждение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413642-E24C-413F-9132-C2D557D6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019675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86A5"/>
          </a:solidFill>
          <a:ln xmlns:a="http://schemas.openxmlformats.org/drawingml/2006/main" w="0">
            <a:solidFill>
              <a:srgbClr val="2686A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0D12C5-4663-4CF6-A8D2-77068E7C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819650"/>
            <a:ext cx="876300" cy="4191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2686A5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отзыв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D69489-BAE6-49B6-B28C-6250E543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019675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86A5"/>
          </a:solidFill>
          <a:ln xmlns:a="http://schemas.openxmlformats.org/drawingml/2006/main" w="0">
            <a:solidFill>
              <a:srgbClr val="2686A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F8CFD5-A85E-4C9E-A6CB-74C6B4F2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19650"/>
            <a:ext cx="876300" cy="4191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2686A5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улучшение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052DC5-2394-4974-B88E-14A6F40B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1020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90" b="1">
                <a:solidFill>
                  <a:srgbClr val="2686A5"/>
                </a:solidFill>
                <a:latin typeface="Calibri"/>
                <a:ea typeface="Calibri"/>
                <a:cs typeface="Calibri"/>
              </a:defRPr>
            </a:pPr>
            <a:r>
              <a:rPr sz="990" b="1">
                <a:solidFill>
                  <a:srgbClr val="2686A5"/>
                </a:solidFill>
                <a:latin typeface="Calibri"/>
                <a:ea typeface="Calibri"/>
                <a:cs typeface="Calibri"/>
              </a:rPr>
              <a:t>Результат: платформа собирает обратную связь там, где проходит обучение.</a:t>
            </a:r>
          </a:p>
        </p:txBody>
      </p:sp>
    </p:spTree>
    <p:extLst>
      <p:ext uri="{BB962C8B-B14F-4D97-AF65-F5344CB8AC3E}">
        <p14:creationId xmlns:p14="http://schemas.microsoft.com/office/powerpoint/2010/main" val="43275498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EB83C9-3EE0-4EDD-B74A-BBAA0A57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0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010269-8D36-4DA6-9ED5-E224691C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602FDC-A6DD-46BA-AB76-EB1CD27D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7B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63DE21-C8DE-4E92-AB17-8736913B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286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11B31F-B555-4CCA-9010-4A7B3ED6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019800"/>
            <a:ext cx="209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5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5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ИТОГ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6C5389-85B6-47C2-A544-4282AD37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3627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DBFC1"/>
          </a:solidFill>
          <a:ln xmlns:a="http://schemas.openxmlformats.org/drawingml/2006/main" w="0">
            <a:solidFill>
              <a:srgbClr val="BDBF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BA8487-2D9F-461B-8B75-C7BEBB99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914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Итог: LMS собрана, протестирована, развёрнута и готова к демонстрации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77B448-5A2D-471D-A594-0F52D90D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526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06AAE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06AAE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32E3AF-A264-4D7F-A338-FC55A7C1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098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F686E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86E"/>
                </a:solidFill>
                <a:latin typeface="Calibri"/>
                <a:ea typeface="Calibri"/>
                <a:cs typeface="Calibri"/>
              </a:rPr>
              <a:t>файлов unit-тестов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FD72D7-730F-4081-B0B8-93FF4198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17526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328A63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328A63"/>
                </a:solidFill>
                <a:latin typeface="Calibri"/>
                <a:ea typeface="Calibri"/>
                <a:cs typeface="Calibri"/>
              </a:rPr>
              <a:t>E2E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A90E04-B303-41DF-8A98-7C1070C0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2098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F686E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86E"/>
                </a:solidFill>
                <a:latin typeface="Calibri"/>
                <a:ea typeface="Calibri"/>
                <a:cs typeface="Calibri"/>
              </a:rPr>
              <a:t>сценарии Playwright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3274F4-DEF0-4E02-8FF3-705C36DE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7156A4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7156A4"/>
                </a:solidFill>
                <a:latin typeface="Calibri"/>
                <a:ea typeface="Calibri"/>
                <a:cs typeface="Calibri"/>
              </a:rPr>
              <a:t>Next.js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15A791-4397-46EE-8509-A962F3A3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098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F686E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86E"/>
                </a:solidFill>
                <a:latin typeface="Calibri"/>
                <a:ea typeface="Calibri"/>
                <a:cs typeface="Calibri"/>
              </a:rPr>
              <a:t>production build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461C4B-159E-402B-9397-61C9EB8C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7526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D67B25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D67B25"/>
                </a:solidFill>
                <a:latin typeface="Calibri"/>
                <a:ea typeface="Calibri"/>
                <a:cs typeface="Calibri"/>
              </a:rPr>
              <a:t>Vercel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E7D4A7-BDEC-45FC-9624-364CEAE0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2098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F686E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86E"/>
                </a:solidFill>
                <a:latin typeface="Calibri"/>
                <a:ea typeface="Calibri"/>
                <a:cs typeface="Calibri"/>
              </a:rPr>
              <a:t>публичный деплой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C95BBA-F120-4DF0-990E-C79A9DC0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00450"/>
            <a:ext cx="44196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B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055E0A-ED62-4423-9223-CF390854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00450"/>
            <a:ext cx="4762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8A63"/>
          </a:solidFill>
          <a:ln xmlns:a="http://schemas.openxmlformats.org/drawingml/2006/main" w="0">
            <a:solidFill>
              <a:srgbClr val="328A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385F76-1DEB-4128-B248-7DC99883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71900"/>
            <a:ext cx="4057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28A63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328A63"/>
                </a:solidFill>
                <a:latin typeface="Calibri"/>
                <a:ea typeface="Calibri"/>
                <a:cs typeface="Calibri"/>
              </a:rPr>
              <a:t>Практическая значимость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8BCA2F-421A-40DB-9C7D-4761553A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14800"/>
            <a:ext cx="40576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сокращение ручного контроля назначений и сроков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13" b="0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единая картина прогресса сотрудников для HR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13" b="0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рост вовлечённости за счёт XP, уровней и наград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81FE51-E9C0-43FD-A9C8-4FE08D59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00450"/>
            <a:ext cx="44196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B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D7867A-9CE1-4E65-A396-875734DD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00450"/>
            <a:ext cx="4762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7B25"/>
          </a:solidFill>
          <a:ln xmlns:a="http://schemas.openxmlformats.org/drawingml/2006/main" w="0">
            <a:solidFill>
              <a:srgbClr val="D67B2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91D881-6EE6-4E9B-BB0B-47BFA113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71900"/>
            <a:ext cx="4057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67B25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D67B25"/>
                </a:solidFill>
                <a:latin typeface="Calibri"/>
                <a:ea typeface="Calibri"/>
                <a:cs typeface="Calibri"/>
              </a:rPr>
              <a:t>Вывод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DB933A-C2B4-4859-A8AC-E96FC207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14800"/>
            <a:ext cx="40576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71A1D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171A1D"/>
                </a:solidFill>
                <a:latin typeface="Calibri"/>
                <a:ea typeface="Calibri"/>
                <a:cs typeface="Calibri"/>
              </a:rPr>
              <a:t>Цель проекта достигнута: пять самостоятельных дипломных модулей объединены в одну работающую платформу удалённого обучения.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a2184a4a4c4878">
            <a:extLst>
              <a:ext uri="{96DAC541-7B7A-43D3-8B79-37D633B846F1}">
                <asvg:svgBlip xmlns:asvg="http://schemas.microsoft.com/office/drawing/2016/SVG/main" r:embed="Rad8feb9ac28c48f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63150" y="276225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64DEE7-8A5E-4977-91FE-92C7786D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562600"/>
            <a:ext cx="36766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10478">
            <a:solidFill>
              <a:srgbClr val="006AAE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6AAE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006AAE"/>
                </a:solidFill>
                <a:latin typeface="Calibri"/>
                <a:ea typeface="Calibri"/>
                <a:cs typeface="Calibri"/>
              </a:rPr>
              <a:t>https://employee-learning-lms.vercel.app/</a:t>
            </a:r>
          </a:p>
        </p:txBody>
      </p:sp>
    </p:spTree>
    <p:extLst>
      <p:ext uri="{BB962C8B-B14F-4D97-AF65-F5344CB8AC3E}">
        <p14:creationId xmlns:p14="http://schemas.microsoft.com/office/powerpoint/2010/main" val="1299409088"/>
      </p:ext>
    </p:extLst>
  </p:cSld>
</p:sld>
</file>

<file path=ppt/theme/theme1.xml><?xml version="1.0" encoding="utf-8"?>
<a:theme xmlns:a="http://schemas.openxmlformats.org/drawingml/2006/main" name="LearnHub">
  <a:themeElements>
    <a:clrScheme name="LearnHub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LearnHub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2026-05-28T10:08:21.9180000Z</dcterms:created>
  <dcterms:modified xsi:type="dcterms:W3CDTF">2026-05-28T10:08:21.9180000Z</dcterms:modified>
</coreProperties>
</file>